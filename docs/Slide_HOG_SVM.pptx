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a3ce3039454a1f" /><Relationship Type="http://schemas.openxmlformats.org/officeDocument/2006/relationships/extended-properties" Target="/docProps/app.xml" Id="Rf5352aa558664de3" /><Relationship Type="http://schemas.openxmlformats.org/officeDocument/2006/relationships/officeDocument" Target="/ppt/presentation.xml" Id="R6f46b9c29f8b48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c8fb01d1c2429e"/>
  </p:sldMasterIdLst>
  <p:notesMasterIdLst>
    <p:notesMasterId xmlns:r="http://schemas.openxmlformats.org/officeDocument/2006/relationships" r:id="R5288b51a28c34b3c"/>
  </p:notesMasterIdLst>
  <p:sldIdLst>
    <p:sldId xmlns:r="http://schemas.openxmlformats.org/officeDocument/2006/relationships" id="256" r:id="Rb97865c4e2bb4dbf"/>
    <p:sldId xmlns:r="http://schemas.openxmlformats.org/officeDocument/2006/relationships" id="257" r:id="Rfd63423a803045d0"/>
    <p:sldId xmlns:r="http://schemas.openxmlformats.org/officeDocument/2006/relationships" id="258" r:id="Rbc04c11c3ef8420c"/>
    <p:sldId xmlns:r="http://schemas.openxmlformats.org/officeDocument/2006/relationships" id="259" r:id="Re1da566e7d39410e"/>
    <p:sldId xmlns:r="http://schemas.openxmlformats.org/officeDocument/2006/relationships" id="260" r:id="R79dd9900216d45d1"/>
    <p:sldId xmlns:r="http://schemas.openxmlformats.org/officeDocument/2006/relationships" id="261" r:id="R3950574c2c484c26"/>
    <p:sldId xmlns:r="http://schemas.openxmlformats.org/officeDocument/2006/relationships" id="262" r:id="Rcc665c4785f34948"/>
    <p:sldId xmlns:r="http://schemas.openxmlformats.org/officeDocument/2006/relationships" id="263" r:id="R6302e8eb153b4253"/>
    <p:sldId xmlns:r="http://schemas.openxmlformats.org/officeDocument/2006/relationships" id="264" r:id="R2a5a033c2c694dcb"/>
    <p:sldId xmlns:r="http://schemas.openxmlformats.org/officeDocument/2006/relationships" id="265" r:id="Re1a43cb877d84669"/>
    <p:sldId xmlns:r="http://schemas.openxmlformats.org/officeDocument/2006/relationships" id="266" r:id="R5b46e4d3055a4687"/>
    <p:sldId xmlns:r="http://schemas.openxmlformats.org/officeDocument/2006/relationships" id="267" r:id="R0db51e8554f64b2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aa314d503a43b8" /><Relationship Type="http://schemas.openxmlformats.org/officeDocument/2006/relationships/slideMaster" Target="/ppt/slideMasters/slideMaster1.xml" Id="R2bc8fb01d1c2429e" /><Relationship Type="http://schemas.openxmlformats.org/officeDocument/2006/relationships/notesMaster" Target="/ppt/notesMasters/notesMaster1.xml" Id="R5288b51a28c34b3c" /><Relationship Type="http://schemas.openxmlformats.org/officeDocument/2006/relationships/presProps" Target="/ppt/presProps.xml" Id="R6e047fee9ff54733" /><Relationship Type="http://schemas.openxmlformats.org/officeDocument/2006/relationships/tableStyles" Target="/ppt/tableStyles.xml" Id="Rfacfe07641a24bf4" /><Relationship Type="http://schemas.openxmlformats.org/officeDocument/2006/relationships/slide" Target="/ppt/slides/slide1.xml" Id="Rb97865c4e2bb4dbf" /><Relationship Type="http://schemas.openxmlformats.org/officeDocument/2006/relationships/slide" Target="/ppt/slides/slide2.xml" Id="Rfd63423a803045d0" /><Relationship Type="http://schemas.openxmlformats.org/officeDocument/2006/relationships/slide" Target="/ppt/slides/slide3.xml" Id="Rbc04c11c3ef8420c" /><Relationship Type="http://schemas.openxmlformats.org/officeDocument/2006/relationships/slide" Target="/ppt/slides/slide4.xml" Id="Re1da566e7d39410e" /><Relationship Type="http://schemas.openxmlformats.org/officeDocument/2006/relationships/slide" Target="/ppt/slides/slide5.xml" Id="R79dd9900216d45d1" /><Relationship Type="http://schemas.openxmlformats.org/officeDocument/2006/relationships/slide" Target="/ppt/slides/slide6.xml" Id="R3950574c2c484c26" /><Relationship Type="http://schemas.openxmlformats.org/officeDocument/2006/relationships/slide" Target="/ppt/slides/slide7.xml" Id="Rcc665c4785f34948" /><Relationship Type="http://schemas.openxmlformats.org/officeDocument/2006/relationships/slide" Target="/ppt/slides/slide8.xml" Id="R6302e8eb153b4253" /><Relationship Type="http://schemas.openxmlformats.org/officeDocument/2006/relationships/slide" Target="/ppt/slides/slide9.xml" Id="R2a5a033c2c694dcb" /><Relationship Type="http://schemas.openxmlformats.org/officeDocument/2006/relationships/slide" Target="/ppt/slides/slide10.xml" Id="Re1a43cb877d84669" /><Relationship Type="http://schemas.openxmlformats.org/officeDocument/2006/relationships/slide" Target="/ppt/slides/slide11.xml" Id="R5b46e4d3055a4687" /><Relationship Type="http://schemas.openxmlformats.org/officeDocument/2006/relationships/slide" Target="/ppt/slides/slide12.xml" Id="R0db51e8554f64b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bdcced9c9b41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18f664b34e4f82" /><Relationship Type="http://schemas.openxmlformats.org/officeDocument/2006/relationships/notesMaster" Target="/ppt/notesMasters/notesMaster1.xml" Id="R2243fa8571c246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fb41ced5d24d7f" /><Relationship Type="http://schemas.openxmlformats.org/officeDocument/2006/relationships/notesMaster" Target="/ppt/notesMasters/notesMaster1.xml" Id="R0223d833f25349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89f0fc20014475" /><Relationship Type="http://schemas.openxmlformats.org/officeDocument/2006/relationships/notesMaster" Target="/ppt/notesMasters/notesMaster1.xml" Id="R50dc150c0e9b41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c5089777b54ce0" /><Relationship Type="http://schemas.openxmlformats.org/officeDocument/2006/relationships/notesMaster" Target="/ppt/notesMasters/notesMaster1.xml" Id="Rbdb82e24fc6546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3935412d9f499c" /><Relationship Type="http://schemas.openxmlformats.org/officeDocument/2006/relationships/notesMaster" Target="/ppt/notesMasters/notesMaster1.xml" Id="Rc6f57b7c24cc4c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ce1e518f074b39" /><Relationship Type="http://schemas.openxmlformats.org/officeDocument/2006/relationships/notesMaster" Target="/ppt/notesMasters/notesMaster1.xml" Id="Ra9511e330d754a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785cce725944ff" /><Relationship Type="http://schemas.openxmlformats.org/officeDocument/2006/relationships/notesMaster" Target="/ppt/notesMasters/notesMaster1.xml" Id="R688ec18340ea49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1b935057c643a3" /><Relationship Type="http://schemas.openxmlformats.org/officeDocument/2006/relationships/notesMaster" Target="/ppt/notesMasters/notesMaster1.xml" Id="R1ed5c2317bf941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23e8faee7941ce" /><Relationship Type="http://schemas.openxmlformats.org/officeDocument/2006/relationships/notesMaster" Target="/ppt/notesMasters/notesMaster1.xml" Id="Ra616183a06e148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c413ee29794d75" /><Relationship Type="http://schemas.openxmlformats.org/officeDocument/2006/relationships/notesMaster" Target="/ppt/notesMasters/notesMaster1.xml" Id="R6aa8550bc54f42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a789bb0f104b52" /><Relationship Type="http://schemas.openxmlformats.org/officeDocument/2006/relationships/notesMaster" Target="/ppt/notesMasters/notesMaster1.xml" Id="R62cb65ae0de244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48308d4b674ae2" /><Relationship Type="http://schemas.openxmlformats.org/officeDocument/2006/relationships/notesMaster" Target="/ppt/notesMasters/notesMaster1.xml" Id="R89b7b4f2d3fe44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0ddec948a4b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45dc23e1554eca" /><Relationship Type="http://schemas.openxmlformats.org/officeDocument/2006/relationships/slideLayout" Target="/ppt/slideLayouts/slideLayout1.xml" Id="Ref45e481bdd54e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45e481bdd54e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76ac9aaa74d94" /><Relationship Type="http://schemas.openxmlformats.org/officeDocument/2006/relationships/notesSlide" Target="/ppt/notesSlides/notesSlide1.xml" Id="Reb7bc683a63b47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b735ac93145d3" /><Relationship Type="http://schemas.openxmlformats.org/officeDocument/2006/relationships/notesSlide" Target="/ppt/notesSlides/notesSlide2.xml" Id="R1ee089e4875e45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ccb5f7a924dae" /><Relationship Type="http://schemas.openxmlformats.org/officeDocument/2006/relationships/notesSlide" Target="/ppt/notesSlides/notesSlide3.xml" Id="Ra205a34e8fed47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3632f91d84399" /><Relationship Type="http://schemas.openxmlformats.org/officeDocument/2006/relationships/image" Target="/ppt/media/image.jpeg" Id="R0dfe787a15e044f1" /><Relationship Type="http://schemas.openxmlformats.org/officeDocument/2006/relationships/image" Target="/ppt/media/image2.jpeg" Id="R23776df4727d48cd" /><Relationship Type="http://schemas.openxmlformats.org/officeDocument/2006/relationships/notesSlide" Target="/ppt/notesSlides/notesSlide4.xml" Id="Rb9b92c8a96b943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efe41f91e4e62" /><Relationship Type="http://schemas.openxmlformats.org/officeDocument/2006/relationships/image" Target="/ppt/media/image3.jpeg" Id="R42be37e0464e4eed" /><Relationship Type="http://schemas.openxmlformats.org/officeDocument/2006/relationships/notesSlide" Target="/ppt/notesSlides/notesSlide5.xml" Id="R366913be56dc4b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8ea7c87a94c1e" /><Relationship Type="http://schemas.openxmlformats.org/officeDocument/2006/relationships/notesSlide" Target="/ppt/notesSlides/notesSlide6.xml" Id="Rc7d66fd2477d43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a159221c44294" /><Relationship Type="http://schemas.openxmlformats.org/officeDocument/2006/relationships/notesSlide" Target="/ppt/notesSlides/notesSlide7.xml" Id="R6af16f56f5ba4e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9b2c1ebbd4279" /><Relationship Type="http://schemas.openxmlformats.org/officeDocument/2006/relationships/notesSlide" Target="/ppt/notesSlides/notesSlide8.xml" Id="R8dd242c713ef46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eb43e341243c8" /><Relationship Type="http://schemas.openxmlformats.org/officeDocument/2006/relationships/notesSlide" Target="/ppt/notesSlides/notesSlide9.xml" Id="R67848fc92a3b4a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145dc8fbf4431" /><Relationship Type="http://schemas.openxmlformats.org/officeDocument/2006/relationships/notesSlide" Target="/ppt/notesSlides/notesSlide10.xml" Id="Re2c19bef840743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5b5b437284d91" /><Relationship Type="http://schemas.openxmlformats.org/officeDocument/2006/relationships/notesSlide" Target="/ppt/notesSlides/notesSlide11.xml" Id="Re64470eab49448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5962c7986499c" /><Relationship Type="http://schemas.openxmlformats.org/officeDocument/2006/relationships/notesSlide" Target="/ppt/notesSlides/notesSlide12.xml" Id="R8b8f28f61f3b4c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F90BCF-A985-4423-86BF-ED29923E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55555"/>
                </a:solidFill>
              </a:defRPr>
            </a:pPr>
            <a:r>
              <a:rPr sz="1350" b="1" i="0">
                <a:solidFill>
                  <a:srgbClr val="555555"/>
                </a:solidFill>
              </a:rPr>
              <a:t>NHẬP MÔN XỬ LÝ ẢNH SỐ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35440-1117-4A6B-BE33-3B9ED483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8477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000000"/>
                </a:solidFill>
              </a:defRPr>
            </a:pPr>
            <a:r>
              <a:rPr sz="4350" b="1" i="0">
                <a:solidFill>
                  <a:srgbClr val="000000"/>
                </a:solidFill>
              </a:rPr>
              <a:t>Phát hiện người đi bộ bằng Image Gradient, HOG và SVM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9A9F7-0C94-44FC-8FAA-5B856F7F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22222"/>
                </a:solidFill>
              </a:defRPr>
            </a:pPr>
            <a:r>
              <a:rPr sz="1800" b="0" i="0">
                <a:solidFill>
                  <a:srgbClr val="222222"/>
                </a:solidFill>
              </a:rPr>
              <a:t>Demo realtime trên video/webcam · Có custom Linear SVM tự train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ECF88-A054-4B0B-AB2E-9A574A90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0"/>
            <a:ext cx="2476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BA108-1244-4960-9813-CCFC8015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95500"/>
            <a:ext cx="16573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000000"/>
                </a:solidFill>
              </a:defRPr>
            </a:pPr>
            <a:r>
              <a:rPr sz="4350" b="1" i="0">
                <a:solidFill>
                  <a:srgbClr val="000000"/>
                </a:solidFill>
              </a:rPr>
              <a:t>HOG</a:t>
            </a:r>
          </a:p>
          <a:p xmlns:a="http://schemas.openxmlformats.org/drawingml/2006/main">
            <a:pPr algn="ctr">
              <a:defRPr sz="4350" b="1" i="0">
                <a:solidFill>
                  <a:srgbClr val="000000"/>
                </a:solidFill>
              </a:defRPr>
            </a:pPr>
            <a:r>
              <a:rPr sz="4350" b="1" i="0">
                <a:solidFill>
                  <a:srgbClr val="000000"/>
                </a:solidFill>
              </a:rPr>
              <a:t>+</a:t>
            </a:r>
          </a:p>
          <a:p xmlns:a="http://schemas.openxmlformats.org/drawingml/2006/main">
            <a:pPr algn="ctr">
              <a:defRPr sz="4350" b="1" i="0">
                <a:solidFill>
                  <a:srgbClr val="000000"/>
                </a:solidFill>
              </a:defRPr>
            </a:pPr>
            <a:r>
              <a:rPr sz="4350" b="1" i="0">
                <a:solidFill>
                  <a:srgbClr val="000000"/>
                </a:solidFill>
              </a:rPr>
              <a:t>SVM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3EB8F-B145-4A75-9445-AC650D6A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019863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562995-4D55-4CFB-9FD5-C7D2A97B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55555"/>
                </a:solidFill>
              </a:defRPr>
            </a:pPr>
            <a:r>
              <a:rPr sz="1200" b="1" i="0">
                <a:solidFill>
                  <a:srgbClr val="555555"/>
                </a:solidFill>
              </a:rPr>
              <a:t>CHỦ ĐỀ 2 · IMAGE GRADIENT &amp; HOG + SVM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34ADD-F8F1-449E-ACAD-13A4225E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95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00000"/>
                </a:solidFill>
              </a:defRPr>
            </a:pPr>
            <a:r>
              <a:rPr sz="3150" b="1" i="0">
                <a:solidFill>
                  <a:srgbClr val="000000"/>
                </a:solidFill>
              </a:rPr>
              <a:t>Bài toán yêu cầu phát hiện người và hiển thị kết quả realtime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AF508-62E4-489B-AA74-DC6AADEF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CBBF6-A36E-494C-8F49-420C9A83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334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E0CF9-F443-4D1D-BD82-25DC1471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90750"/>
            <a:ext cx="5334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B803B-4291-4B7A-8CE4-F00933FF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0000"/>
                </a:solidFill>
              </a:defRPr>
            </a:pPr>
            <a:r>
              <a:rPr sz="1950" b="1" i="0">
                <a:solidFill>
                  <a:srgbClr val="000000"/>
                </a:solidFill>
              </a:rPr>
              <a:t>Yêu cầu đề bài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877C9-157B-434F-8ECE-4F1D876C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686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Giải thích Gradient, Magnitude, Orientation</a:t>
            </a:r>
          </a:p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Trình bày HOG: cell, block, normalization</a:t>
            </a:r>
          </a:p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Dùng SVM phân biệt person/background</a:t>
            </a:r>
          </a:p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Vẽ bounding box và nhãn trên video/webcam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C1437-7ADB-463B-9A07-171F6E1C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0000"/>
                </a:solidFill>
              </a:defRPr>
            </a:pPr>
            <a:r>
              <a:rPr sz="1950" b="1" i="0">
                <a:solidFill>
                  <a:srgbClr val="000000"/>
                </a:solidFill>
              </a:rPr>
              <a:t>Phần đã hoàn thiện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0CE3B-8AAE-4A0B-8BE7-439E5DF1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28950"/>
            <a:ext cx="4686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Demo OpenCV HOG + SVM pretrained</a:t>
            </a:r>
          </a:p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Dataset bootstrap 80 positive và 120 negative</a:t>
            </a:r>
          </a:p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Custom Linear SVM có model và report</a:t>
            </a:r>
          </a:p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Ảnh minh họa Gradient/HOG cho báo cáo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6D769-D107-4DB3-BBDE-29842C1A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870292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71F337-DE46-401C-BFA2-73C785FE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55555"/>
                </a:solidFill>
              </a:defRPr>
            </a:pPr>
            <a:r>
              <a:rPr sz="1200" b="1" i="0">
                <a:solidFill>
                  <a:srgbClr val="555555"/>
                </a:solidFill>
              </a:rPr>
              <a:t>CHỦ ĐỀ 2 · IMAGE GRADIENT &amp; HOG + SVM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71C55-98EE-4813-B920-31F2068C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95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00000"/>
                </a:solidFill>
              </a:defRPr>
            </a:pPr>
            <a:r>
              <a:rPr sz="3150" b="1" i="0">
                <a:solidFill>
                  <a:srgbClr val="000000"/>
                </a:solidFill>
              </a:rPr>
              <a:t>Pipeline xử lý đi từ frame thô đến bounding 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72ABA-FB17-40F6-B2B6-4B3413EC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8EA92-0C59-47EA-BD45-C6140C24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28597-04FF-4A93-BB0B-24AF0EE2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</a:defRPr>
            </a:pPr>
            <a:r>
              <a:rPr sz="1500" b="1" i="0">
                <a:solidFill>
                  <a:srgbClr val="000000"/>
                </a:solidFill>
              </a:rPr>
              <a:t>Frame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13826-A3E5-4218-8412-EBBF1642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62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FEB53-7EC9-4041-829B-CDC4E127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86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</a:defRPr>
            </a:pPr>
            <a:r>
              <a:rPr sz="1500" b="1" i="0">
                <a:solidFill>
                  <a:srgbClr val="000000"/>
                </a:solidFill>
              </a:rPr>
              <a:t>Grayscale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53560-B5BF-4E24-B3E3-609F628F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62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5320B-31B8-4B8C-A574-E36FCBC9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86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</a:defRPr>
            </a:pPr>
            <a:r>
              <a:rPr sz="1500" b="1" i="0">
                <a:solidFill>
                  <a:srgbClr val="000000"/>
                </a:solidFill>
              </a:rPr>
              <a:t>Gradient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642F6-383F-4433-99E4-AA15179E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62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57BFC-337E-445E-ABCB-C4ED610C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86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</a:defRPr>
            </a:pPr>
            <a:r>
              <a:rPr sz="1500" b="1" i="0">
                <a:solidFill>
                  <a:srgbClr val="000000"/>
                </a:solidFill>
              </a:rPr>
              <a:t>HOG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B25D6-F724-41D7-910B-401666E9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62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D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4A656-9B23-453D-871A-1B4E8D14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86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</a:defRPr>
            </a:pPr>
            <a:r>
              <a:rPr sz="1500" b="1" i="0">
                <a:solidFill>
                  <a:srgbClr val="000000"/>
                </a:solidFill>
              </a:rPr>
              <a:t>SVM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A97A8-43BC-4A87-A80F-06D058F2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279B0-A255-4C5C-9569-3E052A23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86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</a:defRPr>
            </a:pPr>
            <a:r>
              <a:rPr sz="1500" b="1" i="0">
                <a:solidFill>
                  <a:srgbClr val="000000"/>
                </a:solidFill>
              </a:rPr>
              <a:t>NMS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7728A-C63C-4650-96B5-41509A22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622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53F27-0062-493C-8BBF-53927EE6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861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</a:defRPr>
            </a:pPr>
            <a:r>
              <a:rPr sz="1500" b="1" i="0">
                <a:solidFill>
                  <a:srgbClr val="000000"/>
                </a:solidFill>
              </a:rPr>
              <a:t>Display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23D0A1-2FE1-4459-83BD-458DA559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222222"/>
                </a:solidFill>
              </a:defRPr>
            </a:pPr>
            <a:r>
              <a:rPr sz="1875" b="0" i="0">
                <a:solidFill>
                  <a:srgbClr val="222222"/>
                </a:solidFill>
              </a:rPr>
              <a:t>Mỗi bước tạo thêm thông tin: gradient mô tả biên, HOG gom hình dạng, SVM quyết định vùng ảnh có người hay nền.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493A4-1B35-4F5B-AF8E-F8EA8014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778886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53C2BB-EE9E-4B09-9987-75968C94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55555"/>
                </a:solidFill>
              </a:defRPr>
            </a:pPr>
            <a:r>
              <a:rPr sz="1200" b="1" i="0">
                <a:solidFill>
                  <a:srgbClr val="555555"/>
                </a:solidFill>
              </a:rPr>
              <a:t>CHỦ ĐỀ 2 · IMAGE GRADIENT &amp; HOG + SVM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C6E01-DC5A-4E97-8C50-EED1213B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95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00000"/>
                </a:solidFill>
              </a:defRPr>
            </a:pPr>
            <a:r>
              <a:rPr sz="3150" b="1" i="0">
                <a:solidFill>
                  <a:srgbClr val="000000"/>
                </a:solidFill>
              </a:rPr>
              <a:t>Gradient cho biết biên mạnh và hướng thay đổi cường độ sáng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0BC88-4BDB-4ECF-911D-904965DE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e787a15e044f1"/>
          <a:stretch xmlns:a="http://schemas.openxmlformats.org/drawingml/2006/main"/>
        </p:blipFill>
        <p:spPr>
          <a:xfrm xmlns:a="http://schemas.openxmlformats.org/drawingml/2006/main">
            <a:off x="2200275" y="2286000"/>
            <a:ext cx="1428750" cy="28575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76df4727d48cd"/>
          <a:stretch xmlns:a="http://schemas.openxmlformats.org/drawingml/2006/main"/>
        </p:blipFill>
        <p:spPr>
          <a:xfrm xmlns:a="http://schemas.openxmlformats.org/drawingml/2006/main">
            <a:off x="7248525" y="2286000"/>
            <a:ext cx="1428750" cy="2857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74301-5A3E-4103-8FCF-13986305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22222"/>
                </a:solidFill>
              </a:defRPr>
            </a:pPr>
            <a:r>
              <a:rPr sz="1650" b="1" i="0">
                <a:solidFill>
                  <a:srgbClr val="222222"/>
                </a:solidFill>
              </a:rPr>
              <a:t>Magnitude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E690E-E03F-4E47-B17D-78DBD20D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34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22222"/>
                </a:solidFill>
              </a:defRPr>
            </a:pPr>
            <a:r>
              <a:rPr sz="1650" b="1" i="0">
                <a:solidFill>
                  <a:srgbClr val="222222"/>
                </a:solidFill>
              </a:rPr>
              <a:t>Orientation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FEBB5-383E-407F-BCBE-CD95E9F2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592041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398098-EF35-40B3-AD63-7CDA5962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55555"/>
                </a:solidFill>
              </a:defRPr>
            </a:pPr>
            <a:r>
              <a:rPr sz="1200" b="1" i="0">
                <a:solidFill>
                  <a:srgbClr val="555555"/>
                </a:solidFill>
              </a:rPr>
              <a:t>CHỦ ĐỀ 2 · IMAGE GRADIENT &amp; HOG + SVM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D8AA8-7F83-4CBC-9328-2DB7CD63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95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00000"/>
                </a:solidFill>
              </a:defRPr>
            </a:pPr>
            <a:r>
              <a:rPr sz="3150" b="1" i="0">
                <a:solidFill>
                  <a:srgbClr val="000000"/>
                </a:solidFill>
              </a:rPr>
              <a:t>HOG biến phân bố hướng gradient thành vector hình dạng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9F796-7378-4040-A640-F5DCB473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e37e0464e4eed"/>
          <a:stretch xmlns:a="http://schemas.openxmlformats.org/drawingml/2006/main"/>
        </p:blipFill>
        <p:spPr>
          <a:xfrm xmlns:a="http://schemas.openxmlformats.org/drawingml/2006/main">
            <a:off x="1976438" y="2190750"/>
            <a:ext cx="1571625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0EB1E-21EB-4984-A4D4-BEF7CDE6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812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22222"/>
                </a:solidFill>
              </a:defRPr>
            </a:pPr>
            <a:r>
              <a:rPr sz="1875" b="0" i="0">
                <a:solidFill>
                  <a:srgbClr val="222222"/>
                </a:solidFill>
              </a:rPr>
              <a:t>- Window chuẩn 64x128</a:t>
            </a:r>
          </a:p>
          <a:p xmlns:a="http://schemas.openxmlformats.org/drawingml/2006/main">
            <a:pPr algn="l">
              <a:defRPr sz="1875" b="0" i="0">
                <a:solidFill>
                  <a:srgbClr val="222222"/>
                </a:solidFill>
              </a:defRPr>
            </a:pPr>
            <a:r>
              <a:rPr sz="1875" b="0" i="0">
                <a:solidFill>
                  <a:srgbClr val="222222"/>
                </a:solidFill>
              </a:rPr>
              <a:t>- Cell 8x8 pixel</a:t>
            </a:r>
          </a:p>
          <a:p xmlns:a="http://schemas.openxmlformats.org/drawingml/2006/main">
            <a:pPr algn="l">
              <a:defRPr sz="1875" b="0" i="0">
                <a:solidFill>
                  <a:srgbClr val="222222"/>
                </a:solidFill>
              </a:defRPr>
            </a:pPr>
            <a:r>
              <a:rPr sz="1875" b="0" i="0">
                <a:solidFill>
                  <a:srgbClr val="222222"/>
                </a:solidFill>
              </a:rPr>
              <a:t>- Block 2x2 cell</a:t>
            </a:r>
          </a:p>
          <a:p xmlns:a="http://schemas.openxmlformats.org/drawingml/2006/main">
            <a:pPr algn="l">
              <a:defRPr sz="1875" b="0" i="0">
                <a:solidFill>
                  <a:srgbClr val="222222"/>
                </a:solidFill>
              </a:defRPr>
            </a:pPr>
            <a:r>
              <a:rPr sz="1875" b="0" i="0">
                <a:solidFill>
                  <a:srgbClr val="222222"/>
                </a:solidFill>
              </a:rPr>
              <a:t>- 9 hướng gradient</a:t>
            </a:r>
          </a:p>
          <a:p xmlns:a="http://schemas.openxmlformats.org/drawingml/2006/main">
            <a:pPr algn="l">
              <a:defRPr sz="1875" b="0" i="0">
                <a:solidFill>
                  <a:srgbClr val="222222"/>
                </a:solidFill>
              </a:defRPr>
            </a:pPr>
            <a:r>
              <a:rPr sz="1875" b="0" i="0">
                <a:solidFill>
                  <a:srgbClr val="222222"/>
                </a:solidFill>
              </a:rPr>
              <a:t>- Chuẩn hóa L2-Hys để giảm ảnh hưởng ánh sáng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325CB-72A3-41F4-A8FC-8F9610D9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272465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FECF94-01FA-4A88-8FB9-9A8DDEDC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55555"/>
                </a:solidFill>
              </a:defRPr>
            </a:pPr>
            <a:r>
              <a:rPr sz="1200" b="1" i="0">
                <a:solidFill>
                  <a:srgbClr val="555555"/>
                </a:solidFill>
              </a:rPr>
              <a:t>CHỦ ĐỀ 2 · IMAGE GRADIENT &amp; HOG + SVM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31242-14E3-4699-B7E4-C902760E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95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00000"/>
                </a:solidFill>
              </a:defRPr>
            </a:pPr>
            <a:r>
              <a:rPr sz="3150" b="1" i="0">
                <a:solidFill>
                  <a:srgbClr val="000000"/>
                </a:solidFill>
              </a:rPr>
              <a:t>SVM dùng vector HOG để phân biệt person và background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DC29F-D44C-4BAB-ABA6-3A2D2614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86EFB-4A87-48F3-86DE-D9EEB1E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4191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0A836-B55A-4742-977C-F831DB1D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000000"/>
                </a:solidFill>
              </a:defRPr>
            </a:pPr>
            <a:r>
              <a:rPr sz="3450" b="1" i="0">
                <a:solidFill>
                  <a:srgbClr val="000000"/>
                </a:solidFill>
              </a:rPr>
              <a:t>f(x) = w^T x +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46545-EB22-4965-90A8-90398289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005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55555"/>
                </a:solidFill>
              </a:defRPr>
            </a:pPr>
            <a:r>
              <a:rPr sz="1500" b="0" i="0">
                <a:solidFill>
                  <a:srgbClr val="555555"/>
                </a:solidFill>
              </a:rPr>
              <a:t>Nếu score vượt ngưỡng, cửa sổ ảnh được xem là person.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096D2-79DE-4504-9A0F-D385A725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22222"/>
                </a:solidFill>
              </a:defRPr>
            </a:pPr>
            <a:r>
              <a:rPr sz="1800" b="0" i="0">
                <a:solidFill>
                  <a:srgbClr val="222222"/>
                </a:solidFill>
              </a:rPr>
              <a:t>- Input của SVM là vector HOG</a:t>
            </a:r>
          </a:p>
          <a:p xmlns:a="http://schemas.openxmlformats.org/drawingml/2006/main">
            <a:pPr algn="l">
              <a:defRPr sz="1800" b="0" i="0">
                <a:solidFill>
                  <a:srgbClr val="222222"/>
                </a:solidFill>
              </a:defRPr>
            </a:pPr>
            <a:r>
              <a:rPr sz="1800" b="0" i="0">
                <a:solidFill>
                  <a:srgbClr val="222222"/>
                </a:solidFill>
              </a:rPr>
              <a:t>- Linear SVM phù hợp vì HOG đã mô tả hình dạng</a:t>
            </a:r>
          </a:p>
          <a:p xmlns:a="http://schemas.openxmlformats.org/drawingml/2006/main">
            <a:pPr algn="l">
              <a:defRPr sz="1800" b="0" i="0">
                <a:solidFill>
                  <a:srgbClr val="222222"/>
                </a:solidFill>
              </a:defRPr>
            </a:pPr>
            <a:r>
              <a:rPr sz="1800" b="0" i="0">
                <a:solidFill>
                  <a:srgbClr val="222222"/>
                </a:solidFill>
              </a:rPr>
              <a:t>- Model custom dùng StandardScaler + LinearSVC</a:t>
            </a:r>
          </a:p>
          <a:p xmlns:a="http://schemas.openxmlformats.org/drawingml/2006/main">
            <a:pPr algn="l">
              <a:defRPr sz="1800" b="0" i="0">
                <a:solidFill>
                  <a:srgbClr val="222222"/>
                </a:solidFill>
              </a:defRPr>
            </a:pPr>
            <a:r>
              <a:rPr sz="1800" b="0" i="0">
                <a:solidFill>
                  <a:srgbClr val="222222"/>
                </a:solidFill>
              </a:rPr>
              <a:t>- Score được hiển thị cùng bounding box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63943-DC9A-4899-A664-1226F262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12056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BA2D03-3BE0-46B3-994B-3CDF3A45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55555"/>
                </a:solidFill>
              </a:defRPr>
            </a:pPr>
            <a:r>
              <a:rPr sz="1200" b="1" i="0">
                <a:solidFill>
                  <a:srgbClr val="555555"/>
                </a:solidFill>
              </a:rPr>
              <a:t>CHỦ ĐỀ 2 · IMAGE GRADIENT &amp; HOG + SVM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AF49E-CD48-47DF-A956-1A08E7E5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95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00000"/>
                </a:solidFill>
              </a:defRPr>
            </a:pPr>
            <a:r>
              <a:rPr sz="3150" b="1" i="0">
                <a:solidFill>
                  <a:srgbClr val="000000"/>
                </a:solidFill>
              </a:rPr>
              <a:t>Hệ thống có hai đường chạy để vừa demo ổn định vừa chứng minh tự train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DA85A-D6B6-486D-9D43-A53D2D4B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19D07-8106-441E-A9A9-F855F813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334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8DFB4-41E6-4121-904E-7F28A67C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90750"/>
            <a:ext cx="5334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02006-F040-4722-B23F-0C1A09E1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0000"/>
                </a:solidFill>
              </a:defRPr>
            </a:pPr>
            <a:r>
              <a:rPr sz="1950" b="1" i="0">
                <a:solidFill>
                  <a:srgbClr val="000000"/>
                </a:solidFill>
              </a:rPr>
              <a:t>OpenCV pretrained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440A6-CCFA-4867-A823-19416D22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686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Dùng cv2.HOGDescriptor_getDefaultPeopleDetector</a:t>
            </a:r>
          </a:p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Chạy nhanh và ổn định hơn</a:t>
            </a:r>
          </a:p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Phù hợp demo realtime chính</a:t>
            </a:r>
          </a:p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Có ROI, NMS và tracker làm mượt box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E613A-F9DB-4AA6-9E5F-A515D476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0000"/>
                </a:solidFill>
              </a:defRPr>
            </a:pPr>
            <a:r>
              <a:rPr sz="1950" b="1" i="0">
                <a:solidFill>
                  <a:srgbClr val="000000"/>
                </a:solidFill>
              </a:rPr>
              <a:t>Custom SVM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646A2-68BE-46F0-9817-8769E419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28950"/>
            <a:ext cx="4686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Train từ positive/negative trong project</a:t>
            </a:r>
          </a:p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Sliding window nhiều scale</a:t>
            </a:r>
          </a:p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Dùng model custom_hog_svm.pkl</a:t>
            </a:r>
          </a:p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Dùng để chứng minh quy trình HOG + SVM đầy đủ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AC38B-B78C-4158-BB9C-F7419707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197009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C60E66-F022-4650-8264-F37F0D1D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55555"/>
                </a:solidFill>
              </a:defRPr>
            </a:pPr>
            <a:r>
              <a:rPr sz="1200" b="1" i="0">
                <a:solidFill>
                  <a:srgbClr val="555555"/>
                </a:solidFill>
              </a:rPr>
              <a:t>CHỦ ĐỀ 2 · IMAGE GRADIENT &amp; HOG + SVM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70FE0-A7E4-4F3A-BF7F-2BB9DD59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95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00000"/>
                </a:solidFill>
              </a:defRPr>
            </a:pPr>
            <a:r>
              <a:rPr sz="3150" b="1" i="0">
                <a:solidFill>
                  <a:srgbClr val="000000"/>
                </a:solidFill>
              </a:rPr>
              <a:t>Dataset bootstrap đủ để train và giải thích quy trình học máy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848B9-54B3-4B09-ADB3-D0EA3A61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C5612-3EF3-44CB-98C7-B51DD6B9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476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EDD8F-A921-4454-A42F-B37C2931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</a:defRPr>
            </a:pPr>
            <a:r>
              <a:rPr sz="3450" b="1" i="0">
                <a:solidFill>
                  <a:srgbClr val="000000"/>
                </a:solidFill>
              </a:rPr>
              <a:t>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AAE8E-D407-42E8-9C7B-72AABB50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0000"/>
                </a:solidFill>
              </a:defRPr>
            </a:pPr>
            <a:r>
              <a:rPr sz="1500" b="1" i="0">
                <a:solidFill>
                  <a:srgbClr val="000000"/>
                </a:solidFill>
              </a:rPr>
              <a:t>positive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CB29D-1A1E-4124-A5CB-7271D44B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crop người đi bộ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5743D-8B95-42DF-BB66-636B2150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76500"/>
            <a:ext cx="2476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961FE-CCAF-41BE-8FEB-4CE1F01C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051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</a:defRPr>
            </a:pPr>
            <a:r>
              <a:rPr sz="3450" b="1" i="0">
                <a:solidFill>
                  <a:srgbClr val="000000"/>
                </a:solidFill>
              </a:rPr>
              <a:t>120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A4FE1-4F97-4CDE-BDB1-CE93D96D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33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0000"/>
                </a:solidFill>
              </a:defRPr>
            </a:pPr>
            <a:r>
              <a:rPr sz="1500" b="1" i="0">
                <a:solidFill>
                  <a:srgbClr val="000000"/>
                </a:solidFill>
              </a:rPr>
              <a:t>negative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885C4-14A1-457C-A815-745BA2B2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57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vùng nền không người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EAE54-94C6-435C-91F4-1F6FA2C5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2476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6DA7D-313E-44E3-BE39-7FBDA17A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051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</a:defRPr>
            </a:pPr>
            <a:r>
              <a:rPr sz="3450" b="1" i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27C53-EDA2-4D33-AAED-BEFCA0AC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33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0000"/>
                </a:solidFill>
              </a:defRPr>
            </a:pPr>
            <a:r>
              <a:rPr sz="1500" b="1" i="0">
                <a:solidFill>
                  <a:srgbClr val="000000"/>
                </a:solidFill>
              </a:rPr>
              <a:t>test images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55392-E210-4CD2-95CA-FBAC389F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57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minh họa Gradient/HOG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E82AE-6768-4D86-A49A-0611FECC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2476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214B1B-689B-4FB8-9A26-07246F62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051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</a:defRPr>
            </a:pPr>
            <a:r>
              <a:rPr sz="3450" b="1" i="0">
                <a:solidFill>
                  <a:srgbClr val="000000"/>
                </a:solidFill>
              </a:rPr>
              <a:t>200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69548-00D9-4022-B744-77B8686C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33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0000"/>
                </a:solidFill>
              </a:defRPr>
            </a:pPr>
            <a:r>
              <a:rPr sz="1500" b="1" i="0">
                <a:solidFill>
                  <a:srgbClr val="000000"/>
                </a:solidFill>
              </a:rPr>
              <a:t>samples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9B1F51-1EF7-405A-A32D-39AF54B6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57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tổng ảnh train/evaluate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9CAA1B-B8CA-4096-A060-8B6C6B88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625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22222"/>
                </a:solidFill>
              </a:defRPr>
            </a:pPr>
            <a:r>
              <a:rPr sz="1800" b="0" i="0">
                <a:solidFill>
                  <a:srgbClr val="222222"/>
                </a:solidFill>
              </a:rPr>
              <a:t>Dataset được tạo từ walking.mp4 bằng script bootstrap, sau đó train custom Linear SVM bằng HOG feature.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3D0B3C-DC09-4BD7-A7FF-699DF573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33918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930B69-C00F-4279-AFCE-E096100D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55555"/>
                </a:solidFill>
              </a:defRPr>
            </a:pPr>
            <a:r>
              <a:rPr sz="1200" b="1" i="0">
                <a:solidFill>
                  <a:srgbClr val="555555"/>
                </a:solidFill>
              </a:rPr>
              <a:t>CHỦ ĐỀ 2 · IMAGE GRADIENT &amp; HOG + SVM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229E5-7DE9-4216-90F6-7CA36562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95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00000"/>
                </a:solidFill>
              </a:defRPr>
            </a:pPr>
            <a:r>
              <a:rPr sz="3150" b="1" i="0">
                <a:solidFill>
                  <a:srgbClr val="000000"/>
                </a:solidFill>
              </a:rPr>
              <a:t>Custom SVM đạt kết quả tốt trên dataset bootstrap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E70B8-541E-4E3A-B20D-B3E958F0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5A659-9EBA-4735-A665-C1F31433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476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3B54C-8CFF-46BD-AADF-8875F721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</a:defRPr>
            </a:pPr>
            <a:r>
              <a:rPr sz="3450" b="1" i="0">
                <a:solidFill>
                  <a:srgbClr val="000000"/>
                </a:solidFill>
              </a:rPr>
              <a:t>0.95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DB087-D55E-4770-8974-11CBCE47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0000"/>
                </a:solidFill>
              </a:defRPr>
            </a:pPr>
            <a:r>
              <a:rPr sz="1500" b="1" i="0">
                <a:solidFill>
                  <a:srgbClr val="000000"/>
                </a:solidFill>
              </a:rPr>
              <a:t>test 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95C9D-09C6-4B11-A494-D9B9DAEC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40 mẫu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A9EB3-6EBB-4F24-8455-5F3DCEEB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476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27F59-4C12-41F9-B940-23CB444A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098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0000"/>
                </a:solidFill>
              </a:defRPr>
            </a:pPr>
            <a:r>
              <a:rPr sz="3450" b="1" i="0">
                <a:solidFill>
                  <a:srgbClr val="000000"/>
                </a:solidFill>
              </a:rPr>
              <a:t>0.99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9225B-52A4-488E-B2D4-00BFCE45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38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0000"/>
                </a:solidFill>
              </a:defRPr>
            </a:pPr>
            <a:r>
              <a:rPr sz="1500" b="1" i="0">
                <a:solidFill>
                  <a:srgbClr val="000000"/>
                </a:solidFill>
              </a:rPr>
              <a:t>full 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AF061-E8CD-463E-870C-31F55941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623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200 mẫu toàn dataset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1480D-0F06-4C95-9B96-398BD8A3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095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E5AAA-F5D0-4CF4-B7BB-DF1B4D9F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0000"/>
                </a:solidFill>
              </a:defRPr>
            </a:pPr>
            <a:r>
              <a:rPr sz="1800" b="1" i="0">
                <a:solidFill>
                  <a:srgbClr val="000000"/>
                </a:solidFill>
              </a:rPr>
              <a:t>Confusion matrix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B53EA-E52D-4FED-BB7F-3FCEE995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38500"/>
            <a:ext cx="342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22222"/>
                </a:solidFill>
              </a:defRPr>
            </a:pPr>
            <a:r>
              <a:rPr sz="1800" b="0" i="0">
                <a:solidFill>
                  <a:srgbClr val="222222"/>
                </a:solidFill>
              </a:rPr>
              <a:t>Test: [[22, 2], [0, 16]]</a:t>
            </a:r>
          </a:p>
          <a:p xmlns:a="http://schemas.openxmlformats.org/drawingml/2006/main">
            <a:pPr algn="l">
              <a:defRPr sz="1800" b="0" i="0">
                <a:solidFill>
                  <a:srgbClr val="222222"/>
                </a:solidFill>
              </a:defRPr>
            </a:pPr>
            <a:r>
              <a:rPr sz="1800" b="0" i="0">
                <a:solidFill>
                  <a:srgbClr val="222222"/>
                </a:solidFill>
              </a:rPr>
              <a:t>Full: [[118, 2], [0, 80]]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1622D-7CDD-4ED4-A578-5BA058BC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222222"/>
                </a:solidFill>
              </a:defRPr>
            </a:pPr>
            <a:r>
              <a:rPr sz="1725" b="0" i="0">
                <a:solidFill>
                  <a:srgbClr val="222222"/>
                </a:solidFill>
              </a:rPr>
              <a:t>Ý nghĩa: model không bỏ sót positive trong dataset, nhưng vẫn có một số negative bị nhầm thành person.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A7B488-71C0-416D-83C7-82C3A82E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482580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8B36B5-F9D2-4587-AE28-43223393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55555"/>
                </a:solidFill>
              </a:defRPr>
            </a:pPr>
            <a:r>
              <a:rPr sz="1200" b="1" i="0">
                <a:solidFill>
                  <a:srgbClr val="555555"/>
                </a:solidFill>
              </a:rPr>
              <a:t>CHỦ ĐỀ 2 · IMAGE GRADIENT &amp; HOG + SVM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420C3-4455-450D-A462-FBB6BFCA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95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00000"/>
                </a:solidFill>
              </a:defRPr>
            </a:pPr>
            <a:r>
              <a:rPr sz="3150" b="1" i="0">
                <a:solidFill>
                  <a:srgbClr val="000000"/>
                </a:solidFill>
              </a:rPr>
              <a:t>Demo chính ưu tiên realtime, custom mode dùng để minh chứng tự train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EA7D0-ED14-4B42-9968-ECDBA455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81ABC-F69B-4566-9FD9-7CAEC52B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19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D0172-7C45-4C6B-9208-4CA4C449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965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00000"/>
                </a:solidFill>
              </a:defRPr>
            </a:pPr>
            <a:r>
              <a:rPr sz="1875" b="1" i="0">
                <a:solidFill>
                  <a:srgbClr val="000000"/>
                </a:solidFill>
              </a:rPr>
              <a:t>python src/run_realtime.py --source dataset/videos/walking.mp4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2D256-F5EF-4772-A480-BF62DB45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191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FB572-0168-4302-AB3E-1ABD1135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9658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0000"/>
                </a:solidFill>
              </a:defRPr>
            </a:pPr>
            <a:r>
              <a:rPr sz="1575" b="1" i="0">
                <a:solidFill>
                  <a:srgbClr val="000000"/>
                </a:solidFill>
              </a:rPr>
              <a:t>python src/run_realtime.py --source dataset/videos/walking.mp4 --model custom --custom-max-width 360 --custom-threshold 0.8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178EF-B7F8-47B6-AB2E-8E08742C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752735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39ABB1-248E-46B6-8C32-B220108C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55555"/>
                </a:solidFill>
              </a:defRPr>
            </a:pPr>
            <a:r>
              <a:rPr sz="1200" b="1" i="0">
                <a:solidFill>
                  <a:srgbClr val="555555"/>
                </a:solidFill>
              </a:rPr>
              <a:t>CHỦ ĐỀ 2 · IMAGE GRADIENT &amp; HOG + SVM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00331-0ACA-43A1-AD77-E1DAEAB1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95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00000"/>
                </a:solidFill>
              </a:defRPr>
            </a:pPr>
            <a:r>
              <a:rPr sz="3150" b="1" i="0">
                <a:solidFill>
                  <a:srgbClr val="000000"/>
                </a:solidFill>
              </a:rPr>
              <a:t>Kết quả tốt nhất khi giải thích rõ ưu và nhược điểm của HOG + SVM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39AB0-5120-4827-A385-B67D98F4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A54A9-EC14-4486-9E53-A334FCA7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334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D0687-C721-4CF5-B025-11A9FC58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90750"/>
            <a:ext cx="5334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FCB3E-5D09-40A4-8D50-3CB13020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0000"/>
                </a:solidFill>
              </a:defRPr>
            </a:pPr>
            <a:r>
              <a:rPr sz="1950" b="1" i="0">
                <a:solidFill>
                  <a:srgbClr val="000000"/>
                </a:solidFill>
              </a:rPr>
              <a:t>Ưu điểm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E3291-4684-447F-83DC-9B82F357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686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Dễ hiểu và bám sát lý thuyết xử lý ảnh</a:t>
            </a:r>
          </a:p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Không cần GPU</a:t>
            </a:r>
          </a:p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Hoạt động ổn với người toàn thân</a:t>
            </a:r>
          </a:p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Có thể giải thích từng bước trung gian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A2875-6EF9-4056-8C93-2FBA6E15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00000"/>
                </a:solidFill>
              </a:defRPr>
            </a:pPr>
            <a:r>
              <a:rPr sz="1950" b="1" i="0">
                <a:solidFill>
                  <a:srgbClr val="000000"/>
                </a:solidFill>
              </a:rPr>
              <a:t>Hạn chế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0CEDB-39AF-4CC7-B894-694934E0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28950"/>
            <a:ext cx="4686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Nhạy với nền nhiều cạnh</a:t>
            </a:r>
          </a:p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Khó khi người bị che khuất hoặc quá nhỏ</a:t>
            </a:r>
          </a:p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Custom model cần nhiều dữ liệu hơn</a:t>
            </a:r>
          </a:p>
          <a:p xmlns:a="http://schemas.openxmlformats.org/drawingml/2006/main">
            <a:pPr algn="l">
              <a:defRPr sz="1575" b="0" i="0">
                <a:solidFill>
                  <a:srgbClr val="222222"/>
                </a:solidFill>
              </a:defRPr>
            </a:pPr>
            <a:r>
              <a:rPr sz="1575" b="0" i="0">
                <a:solidFill>
                  <a:srgbClr val="222222"/>
                </a:solidFill>
              </a:rPr>
              <a:t>- Sliding window chậm hơn deep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38F5A-88CC-441A-9ACE-A631D9A3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746699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04155D-D6CF-4278-A835-05A1D512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55555"/>
                </a:solidFill>
              </a:defRPr>
            </a:pPr>
            <a:r>
              <a:rPr sz="1200" b="1" i="0">
                <a:solidFill>
                  <a:srgbClr val="555555"/>
                </a:solidFill>
              </a:rPr>
              <a:t>CHỦ ĐỀ 2 · IMAGE GRADIENT &amp; HOG + SVM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6121A-E948-4072-9000-E1937E60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95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00000"/>
                </a:solidFill>
              </a:defRPr>
            </a:pPr>
            <a:r>
              <a:rPr sz="3150" b="1" i="0">
                <a:solidFill>
                  <a:srgbClr val="000000"/>
                </a:solidFill>
              </a:rPr>
              <a:t>Project đáp ứng yêu cầu Chủ đề 2 và có phần mở rộng tự huấn luyện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2D63F-34DD-430E-885A-1E5A47CD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36336-AD03-4838-8B5D-15850047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8096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222222"/>
                </a:solidFill>
              </a:defRPr>
            </a:pPr>
            <a:r>
              <a:rPr sz="2100" b="0" i="0">
                <a:solidFill>
                  <a:srgbClr val="222222"/>
                </a:solidFill>
              </a:rPr>
              <a:t>- Có cơ sở lý thuyết Gradient, HOG và SVM</a:t>
            </a:r>
          </a:p>
          <a:p xmlns:a="http://schemas.openxmlformats.org/drawingml/2006/main">
            <a:pPr algn="l">
              <a:defRPr sz="2100" b="0" i="0">
                <a:solidFill>
                  <a:srgbClr val="222222"/>
                </a:solidFill>
              </a:defRPr>
            </a:pPr>
            <a:r>
              <a:rPr sz="2100" b="0" i="0">
                <a:solidFill>
                  <a:srgbClr val="222222"/>
                </a:solidFill>
              </a:rPr>
              <a:t>- Có demo realtime trên video/webcam</a:t>
            </a:r>
          </a:p>
          <a:p xmlns:a="http://schemas.openxmlformats.org/drawingml/2006/main">
            <a:pPr algn="l">
              <a:defRPr sz="2100" b="0" i="0">
                <a:solidFill>
                  <a:srgbClr val="222222"/>
                </a:solidFill>
              </a:defRPr>
            </a:pPr>
            <a:r>
              <a:rPr sz="2100" b="0" i="0">
                <a:solidFill>
                  <a:srgbClr val="222222"/>
                </a:solidFill>
              </a:rPr>
              <a:t>- Có bounding box, nhãn, score và FPS</a:t>
            </a:r>
          </a:p>
          <a:p xmlns:a="http://schemas.openxmlformats.org/drawingml/2006/main">
            <a:pPr algn="l">
              <a:defRPr sz="2100" b="0" i="0">
                <a:solidFill>
                  <a:srgbClr val="222222"/>
                </a:solidFill>
              </a:defRPr>
            </a:pPr>
            <a:r>
              <a:rPr sz="2100" b="0" i="0">
                <a:solidFill>
                  <a:srgbClr val="222222"/>
                </a:solidFill>
              </a:rPr>
              <a:t>- Có ảnh minh họa bước trung gian</a:t>
            </a:r>
          </a:p>
          <a:p xmlns:a="http://schemas.openxmlformats.org/drawingml/2006/main">
            <a:pPr algn="l">
              <a:defRPr sz="2100" b="0" i="0">
                <a:solidFill>
                  <a:srgbClr val="222222"/>
                </a:solidFill>
              </a:defRPr>
            </a:pPr>
            <a:r>
              <a:rPr sz="2100" b="0" i="0">
                <a:solidFill>
                  <a:srgbClr val="222222"/>
                </a:solidFill>
              </a:rPr>
              <a:t>- Có dataset, custom model và kết quả đánh giá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31E28-C9C3-4011-B8BB-7DA014FC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9112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55555"/>
                </a:solidFill>
              </a:defRPr>
            </a:pPr>
            <a:r>
              <a:rPr sz="1650" b="0" i="0">
                <a:solidFill>
                  <a:srgbClr val="555555"/>
                </a:solidFill>
              </a:rPr>
              <a:t>Hướng phát triển: bổ sung dữ liệu chuẩn INRIA, hard negative mining và so sánh với YOLO.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A7E88-8875-4137-A166-6FA3EE1C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55555"/>
                </a:solidFill>
              </a:defRPr>
            </a:pPr>
            <a:r>
              <a:rPr sz="1200" b="0" i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84085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2026-07-06T09:35:54.6960000Z</dcterms:created>
  <dcterms:modified xsi:type="dcterms:W3CDTF">2026-07-06T09:35:54.6960000Z</dcterms:modified>
</coreProperties>
</file>