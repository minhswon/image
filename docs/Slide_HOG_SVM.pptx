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ce9fba82b54293" /><Relationship Type="http://schemas.openxmlformats.org/officeDocument/2006/relationships/extended-properties" Target="/docProps/app.xml" Id="R415d14d5d77d44ad" /><Relationship Type="http://schemas.openxmlformats.org/officeDocument/2006/relationships/officeDocument" Target="/ppt/presentation.xml" Id="R65198ffc34144a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4883d44b0c4f7d"/>
  </p:sldMasterIdLst>
  <p:notesMasterIdLst>
    <p:notesMasterId xmlns:r="http://schemas.openxmlformats.org/officeDocument/2006/relationships" r:id="Rd3e2f13cd8d741eb"/>
  </p:notesMasterIdLst>
  <p:sldIdLst>
    <p:sldId xmlns:r="http://schemas.openxmlformats.org/officeDocument/2006/relationships" id="256" r:id="R373725d298d04ccb"/>
    <p:sldId xmlns:r="http://schemas.openxmlformats.org/officeDocument/2006/relationships" id="257" r:id="R5faa1c039ef748b6"/>
    <p:sldId xmlns:r="http://schemas.openxmlformats.org/officeDocument/2006/relationships" id="258" r:id="R06f34a6b34644967"/>
    <p:sldId xmlns:r="http://schemas.openxmlformats.org/officeDocument/2006/relationships" id="259" r:id="Rc085249acb6145e0"/>
    <p:sldId xmlns:r="http://schemas.openxmlformats.org/officeDocument/2006/relationships" id="260" r:id="Rdbe3f1df73164a98"/>
    <p:sldId xmlns:r="http://schemas.openxmlformats.org/officeDocument/2006/relationships" id="261" r:id="R211e12908a95446e"/>
    <p:sldId xmlns:r="http://schemas.openxmlformats.org/officeDocument/2006/relationships" id="262" r:id="R3d287824647e4dab"/>
    <p:sldId xmlns:r="http://schemas.openxmlformats.org/officeDocument/2006/relationships" id="263" r:id="R2f2d9bf7a0e84233"/>
    <p:sldId xmlns:r="http://schemas.openxmlformats.org/officeDocument/2006/relationships" id="264" r:id="R2a303e90a0e140d2"/>
    <p:sldId xmlns:r="http://schemas.openxmlformats.org/officeDocument/2006/relationships" id="265" r:id="Raf2167ab5a81458d"/>
    <p:sldId xmlns:r="http://schemas.openxmlformats.org/officeDocument/2006/relationships" id="266" r:id="Rd389f13f1ebc41e2"/>
    <p:sldId xmlns:r="http://schemas.openxmlformats.org/officeDocument/2006/relationships" id="267" r:id="R01b3a9b5a95e462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9f799da7764f20" /><Relationship Type="http://schemas.openxmlformats.org/officeDocument/2006/relationships/slideMaster" Target="/ppt/slideMasters/slideMaster1.xml" Id="R544883d44b0c4f7d" /><Relationship Type="http://schemas.openxmlformats.org/officeDocument/2006/relationships/notesMaster" Target="/ppt/notesMasters/notesMaster1.xml" Id="Rd3e2f13cd8d741eb" /><Relationship Type="http://schemas.openxmlformats.org/officeDocument/2006/relationships/presProps" Target="/ppt/presProps.xml" Id="Radb38dff5f4c4385" /><Relationship Type="http://schemas.openxmlformats.org/officeDocument/2006/relationships/tableStyles" Target="/ppt/tableStyles.xml" Id="R7fb9d5999c86418c" /><Relationship Type="http://schemas.openxmlformats.org/officeDocument/2006/relationships/slide" Target="/ppt/slides/slide1.xml" Id="R373725d298d04ccb" /><Relationship Type="http://schemas.openxmlformats.org/officeDocument/2006/relationships/slide" Target="/ppt/slides/slide2.xml" Id="R5faa1c039ef748b6" /><Relationship Type="http://schemas.openxmlformats.org/officeDocument/2006/relationships/slide" Target="/ppt/slides/slide3.xml" Id="R06f34a6b34644967" /><Relationship Type="http://schemas.openxmlformats.org/officeDocument/2006/relationships/slide" Target="/ppt/slides/slide4.xml" Id="Rc085249acb6145e0" /><Relationship Type="http://schemas.openxmlformats.org/officeDocument/2006/relationships/slide" Target="/ppt/slides/slide5.xml" Id="Rdbe3f1df73164a98" /><Relationship Type="http://schemas.openxmlformats.org/officeDocument/2006/relationships/slide" Target="/ppt/slides/slide6.xml" Id="R211e12908a95446e" /><Relationship Type="http://schemas.openxmlformats.org/officeDocument/2006/relationships/slide" Target="/ppt/slides/slide7.xml" Id="R3d287824647e4dab" /><Relationship Type="http://schemas.openxmlformats.org/officeDocument/2006/relationships/slide" Target="/ppt/slides/slide8.xml" Id="R2f2d9bf7a0e84233" /><Relationship Type="http://schemas.openxmlformats.org/officeDocument/2006/relationships/slide" Target="/ppt/slides/slide9.xml" Id="R2a303e90a0e140d2" /><Relationship Type="http://schemas.openxmlformats.org/officeDocument/2006/relationships/slide" Target="/ppt/slides/slide10.xml" Id="Raf2167ab5a81458d" /><Relationship Type="http://schemas.openxmlformats.org/officeDocument/2006/relationships/slide" Target="/ppt/slides/slide11.xml" Id="Rd389f13f1ebc41e2" /><Relationship Type="http://schemas.openxmlformats.org/officeDocument/2006/relationships/slide" Target="/ppt/slides/slide12.xml" Id="R01b3a9b5a95e46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e0c15f85e840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d4b8ea6c514554" /><Relationship Type="http://schemas.openxmlformats.org/officeDocument/2006/relationships/notesMaster" Target="/ppt/notesMasters/notesMaster1.xml" Id="R5c0b7608716e45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3728419b6e4722" /><Relationship Type="http://schemas.openxmlformats.org/officeDocument/2006/relationships/notesMaster" Target="/ppt/notesMasters/notesMaster1.xml" Id="R09c1a321c24f43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c232a3615947d3" /><Relationship Type="http://schemas.openxmlformats.org/officeDocument/2006/relationships/notesMaster" Target="/ppt/notesMasters/notesMaster1.xml" Id="Re3cd6d14ec254c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e9b20fe66f48b2" /><Relationship Type="http://schemas.openxmlformats.org/officeDocument/2006/relationships/notesMaster" Target="/ppt/notesMasters/notesMaster1.xml" Id="Rbc126935a7344f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041c09b1dc4574" /><Relationship Type="http://schemas.openxmlformats.org/officeDocument/2006/relationships/notesMaster" Target="/ppt/notesMasters/notesMaster1.xml" Id="R68b82bc7976547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ccc4921f164f30" /><Relationship Type="http://schemas.openxmlformats.org/officeDocument/2006/relationships/notesMaster" Target="/ppt/notesMasters/notesMaster1.xml" Id="Rec79c7b36dff4af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cecf8babb0473c" /><Relationship Type="http://schemas.openxmlformats.org/officeDocument/2006/relationships/notesMaster" Target="/ppt/notesMasters/notesMaster1.xml" Id="R0728cbd25c8d44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a4034ad80a4425" /><Relationship Type="http://schemas.openxmlformats.org/officeDocument/2006/relationships/notesMaster" Target="/ppt/notesMasters/notesMaster1.xml" Id="R5ee70907ba5d42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973921ce97b4844" /><Relationship Type="http://schemas.openxmlformats.org/officeDocument/2006/relationships/notesMaster" Target="/ppt/notesMasters/notesMaster1.xml" Id="R3cf70c89a60149e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2a29980ca324f44" /><Relationship Type="http://schemas.openxmlformats.org/officeDocument/2006/relationships/notesMaster" Target="/ppt/notesMasters/notesMaster1.xml" Id="Rf31ba1b0a8af4ee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896f4ca70554a0e" /><Relationship Type="http://schemas.openxmlformats.org/officeDocument/2006/relationships/notesMaster" Target="/ppt/notesMasters/notesMaster1.xml" Id="R6aa9c3b46800431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80ff79319194dec" /><Relationship Type="http://schemas.openxmlformats.org/officeDocument/2006/relationships/notesMaster" Target="/ppt/notesMasters/notesMaster1.xml" Id="Rcb5fab3219e64e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0bc29c8e5c4d9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7cd4fb977f4dae" /><Relationship Type="http://schemas.openxmlformats.org/officeDocument/2006/relationships/slideLayout" Target="/ppt/slideLayouts/slideLayout1.xml" Id="R3a1a3cb7bcfc49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1a3cb7bcfc49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c46e3e604a448f" /><Relationship Type="http://schemas.openxmlformats.org/officeDocument/2006/relationships/notesSlide" Target="/ppt/notesSlides/notesSlide1.xml" Id="Rba871a3ea2e34e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b2a9f2c2647e1" /><Relationship Type="http://schemas.openxmlformats.org/officeDocument/2006/relationships/notesSlide" Target="/ppt/notesSlides/notesSlide2.xml" Id="Rc6f2a1d4711741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efa05a3a4e4689" /><Relationship Type="http://schemas.openxmlformats.org/officeDocument/2006/relationships/notesSlide" Target="/ppt/notesSlides/notesSlide3.xml" Id="R487c865dabc940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9abc2c7004c60" /><Relationship Type="http://schemas.openxmlformats.org/officeDocument/2006/relationships/image" Target="/ppt/media/image.jpeg" Id="R89fea6d03c384b05" /><Relationship Type="http://schemas.openxmlformats.org/officeDocument/2006/relationships/image" Target="/ppt/media/image2.jpeg" Id="R31e8a974b63d4202" /><Relationship Type="http://schemas.openxmlformats.org/officeDocument/2006/relationships/notesSlide" Target="/ppt/notesSlides/notesSlide4.xml" Id="Rb525814f42d847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b2ea10e88f4f98" /><Relationship Type="http://schemas.openxmlformats.org/officeDocument/2006/relationships/image" Target="/ppt/media/image3.jpeg" Id="R8ea2436e96d54cce" /><Relationship Type="http://schemas.openxmlformats.org/officeDocument/2006/relationships/notesSlide" Target="/ppt/notesSlides/notesSlide5.xml" Id="R42bde56ab5104d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7bbec127874211" /><Relationship Type="http://schemas.openxmlformats.org/officeDocument/2006/relationships/notesSlide" Target="/ppt/notesSlides/notesSlide6.xml" Id="R16773f5de0b44c4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d1b2d5eb14717" /><Relationship Type="http://schemas.openxmlformats.org/officeDocument/2006/relationships/notesSlide" Target="/ppt/notesSlides/notesSlide7.xml" Id="Re76f6d5adfb74f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edb23e43b94e81" /><Relationship Type="http://schemas.openxmlformats.org/officeDocument/2006/relationships/notesSlide" Target="/ppt/notesSlides/notesSlide8.xml" Id="Rcce7f1322b874f1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466bcc15a44541" /><Relationship Type="http://schemas.openxmlformats.org/officeDocument/2006/relationships/notesSlide" Target="/ppt/notesSlides/notesSlide9.xml" Id="Re851ddbdd53d46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a94f4eed1b42bc" /><Relationship Type="http://schemas.openxmlformats.org/officeDocument/2006/relationships/notesSlide" Target="/ppt/notesSlides/notesSlide10.xml" Id="R6186b30cd9f542f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5db78935cc452c" /><Relationship Type="http://schemas.openxmlformats.org/officeDocument/2006/relationships/notesSlide" Target="/ppt/notesSlides/notesSlide11.xml" Id="R4744432e1e31491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d453258f0f4120" /><Relationship Type="http://schemas.openxmlformats.org/officeDocument/2006/relationships/notesSlide" Target="/ppt/notesSlides/notesSlide12.xml" Id="R051b09cfd7ea42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13DBD1-8A73-4C28-93A2-9BFF63C8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555555"/>
                </a:solidFill>
              </a:defRPr>
            </a:pPr>
            <a:r>
              <a:rPr sz="1350" b="1" i="0">
                <a:solidFill>
                  <a:srgbClr val="555555"/>
                </a:solidFill>
              </a:rPr>
              <a:t>NHẬP MÔN XỬ LÝ ẢNH SỐ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8B475-15C1-4A45-AD28-B23400C4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66875"/>
            <a:ext cx="8477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00000"/>
                </a:solidFill>
              </a:defRPr>
            </a:pPr>
            <a:r>
              <a:rPr sz="4350" b="1" i="0">
                <a:solidFill>
                  <a:srgbClr val="000000"/>
                </a:solidFill>
              </a:rPr>
              <a:t>Phát hiện người đi bộ bằng Image Gradient, HOG và SVM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719C8E-4CC5-4AD4-A0FB-37AE6BCF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222222"/>
                </a:solidFill>
              </a:defRPr>
            </a:pPr>
            <a:r>
              <a:rPr sz="1800" b="0" i="0">
                <a:solidFill>
                  <a:srgbClr val="222222"/>
                </a:solidFill>
              </a:rPr>
              <a:t>Demo realtime trên video/webcam · Custom Linear SVM train từ INRIA subset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2A1E58-31C8-4DE7-A83C-7AADB444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143000"/>
            <a:ext cx="2476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2BF89A-2411-4410-81C1-0DD45574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95500"/>
            <a:ext cx="16573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 i="0">
                <a:solidFill>
                  <a:srgbClr val="000000"/>
                </a:solidFill>
              </a:defRPr>
            </a:pPr>
            <a:r>
              <a:rPr sz="4350" b="1" i="0">
                <a:solidFill>
                  <a:srgbClr val="000000"/>
                </a:solidFill>
              </a:rPr>
              <a:t>HOG</a:t>
            </a:r>
          </a:p>
          <a:p xmlns:a="http://schemas.openxmlformats.org/drawingml/2006/main">
            <a:pPr algn="ctr">
              <a:defRPr sz="4350" b="1" i="0">
                <a:solidFill>
                  <a:srgbClr val="000000"/>
                </a:solidFill>
              </a:defRPr>
            </a:pPr>
            <a:r>
              <a:rPr sz="4350" b="1" i="0">
                <a:solidFill>
                  <a:srgbClr val="000000"/>
                </a:solidFill>
              </a:rPr>
              <a:t>+</a:t>
            </a:r>
          </a:p>
          <a:p xmlns:a="http://schemas.openxmlformats.org/drawingml/2006/main">
            <a:pPr algn="ctr">
              <a:defRPr sz="4350" b="1" i="0">
                <a:solidFill>
                  <a:srgbClr val="000000"/>
                </a:solidFill>
              </a:defRPr>
            </a:pPr>
            <a:r>
              <a:rPr sz="4350" b="1" i="0">
                <a:solidFill>
                  <a:srgbClr val="000000"/>
                </a:solidFill>
              </a:rPr>
              <a:t>SVM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8B9A1A-ED70-4779-A87C-359F9734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212114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B806B8-1ECD-4F1A-AE17-85DCB6A7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55555"/>
                </a:solidFill>
              </a:defRPr>
            </a:pPr>
            <a:r>
              <a:rPr sz="1200" b="1" i="0">
                <a:solidFill>
                  <a:srgbClr val="555555"/>
                </a:solidFill>
              </a:rPr>
              <a:t>CHỦ ĐỀ 2 · IMAGE GRADIENT &amp; HOG + SVM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8D1E83-C216-43B1-B0ED-6FFA3E39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953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000000"/>
                </a:solidFill>
              </a:defRPr>
            </a:pPr>
            <a:r>
              <a:rPr sz="3150" b="1" i="0">
                <a:solidFill>
                  <a:srgbClr val="000000"/>
                </a:solidFill>
              </a:rPr>
              <a:t>Bài toán yêu cầu phát hiện người và hiển thị kết quả realtime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14065B-3B2F-4603-8697-A4159C56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A4327B-03F0-4317-AEB4-222CF02E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53340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71F78D-8F51-438D-872B-BA87AEC9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90750"/>
            <a:ext cx="53340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D08E5-46F5-4577-A6BF-27A3FBB1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00000"/>
                </a:solidFill>
              </a:defRPr>
            </a:pPr>
            <a:r>
              <a:rPr sz="1950" b="1" i="0">
                <a:solidFill>
                  <a:srgbClr val="000000"/>
                </a:solidFill>
              </a:rPr>
              <a:t>Yêu cầu đề bài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BC3328-6CAF-4254-BB96-DDBE5F00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46863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Giải thích Gradient, Magnitude, Orientation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Trình bày HOG: cell, block, normalization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Dùng SVM phân biệt person/background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Vẽ bounding box và nhãn trên video/webcam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0829CA-4DDD-42E2-BA45-CE0FF203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765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00000"/>
                </a:solidFill>
              </a:defRPr>
            </a:pPr>
            <a:r>
              <a:rPr sz="1950" b="1" i="0">
                <a:solidFill>
                  <a:srgbClr val="000000"/>
                </a:solidFill>
              </a:rPr>
              <a:t>Phần đã hoàn thiện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000A64-1E07-45BF-8CD0-51617FCB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28950"/>
            <a:ext cx="46863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Demo OpenCV HOG + SVM pretrained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INRIA subset 300 positive và 300 negative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Custom Linear SVM có model và report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Ảnh minh họa Gradient/HOG cho báo cáo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C4EF1A-C0FF-45EF-BDC9-B0FED97F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419024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88520B-3017-4DF8-90EE-6FA0832D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55555"/>
                </a:solidFill>
              </a:defRPr>
            </a:pPr>
            <a:r>
              <a:rPr sz="1200" b="1" i="0">
                <a:solidFill>
                  <a:srgbClr val="555555"/>
                </a:solidFill>
              </a:rPr>
              <a:t>CHỦ ĐỀ 2 · IMAGE GRADIENT &amp; HOG + SVM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C4C24-5401-4FF3-8861-1914447A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953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000000"/>
                </a:solidFill>
              </a:defRPr>
            </a:pPr>
            <a:r>
              <a:rPr sz="3150" b="1" i="0">
                <a:solidFill>
                  <a:srgbClr val="000000"/>
                </a:solidFill>
              </a:rPr>
              <a:t>Pipeline xử lý đi từ frame thô đến bounding box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DD4FF-91A8-4730-97F3-760ABA5B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C196B5-829F-484A-B977-5980354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219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13E532-98D3-411B-B2F6-B973E901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8610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00000"/>
                </a:solidFill>
              </a:defRPr>
            </a:pPr>
            <a:r>
              <a:rPr sz="1500" b="1" i="0">
                <a:solidFill>
                  <a:srgbClr val="000000"/>
                </a:solidFill>
              </a:rPr>
              <a:t>Frame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B028E4-140E-4EC6-B2D1-B3DB1B46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62250"/>
            <a:ext cx="1219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9F03CE-528C-46D1-BC86-31022616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8610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00000"/>
                </a:solidFill>
              </a:defRPr>
            </a:pPr>
            <a:r>
              <a:rPr sz="1500" b="1" i="0">
                <a:solidFill>
                  <a:srgbClr val="000000"/>
                </a:solidFill>
              </a:rPr>
              <a:t>Grayscale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AF158B-97A8-4418-A834-2BCF9E001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62250"/>
            <a:ext cx="1219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0B8AE7-5B5C-4C6E-BA7D-C4ADAFE0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08610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00000"/>
                </a:solidFill>
              </a:defRPr>
            </a:pPr>
            <a:r>
              <a:rPr sz="1500" b="1" i="0">
                <a:solidFill>
                  <a:srgbClr val="000000"/>
                </a:solidFill>
              </a:rPr>
              <a:t>Gradient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A5B337-3FFF-4578-9A2A-8C34E391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62250"/>
            <a:ext cx="1219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AF76A-F47B-45AF-9FD1-160BA34A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08610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00000"/>
                </a:solidFill>
              </a:defRPr>
            </a:pPr>
            <a:r>
              <a:rPr sz="1500" b="1" i="0">
                <a:solidFill>
                  <a:srgbClr val="000000"/>
                </a:solidFill>
              </a:rPr>
              <a:t>HOG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4FFBCC-2644-4D12-BEBB-B56CFF3D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62250"/>
            <a:ext cx="1219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D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AB01E3-2AD0-4E32-8FE0-3ED45C10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8610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00000"/>
                </a:solidFill>
              </a:defRPr>
            </a:pPr>
            <a:r>
              <a:rPr sz="1500" b="1" i="0">
                <a:solidFill>
                  <a:srgbClr val="000000"/>
                </a:solidFill>
              </a:rPr>
              <a:t>SVM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A8610F-A1BA-48B6-8BD8-F705525C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0"/>
            <a:ext cx="1219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0E48E8-BBC0-46F1-948B-9A575579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8610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00000"/>
                </a:solidFill>
              </a:defRPr>
            </a:pPr>
            <a:r>
              <a:rPr sz="1500" b="1" i="0">
                <a:solidFill>
                  <a:srgbClr val="000000"/>
                </a:solidFill>
              </a:rPr>
              <a:t>NMS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5D391F-80D1-4998-AE81-BACBC26B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762250"/>
            <a:ext cx="1219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5BD33D-69ED-409E-A8C3-712F2F1D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08610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00000"/>
                </a:solidFill>
              </a:defRPr>
            </a:pPr>
            <a:r>
              <a:rPr sz="1500" b="1" i="0">
                <a:solidFill>
                  <a:srgbClr val="000000"/>
                </a:solidFill>
              </a:rPr>
              <a:t>Display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5EF60E-C2EA-449B-B5D2-5ECC7301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7675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 i="0">
                <a:solidFill>
                  <a:srgbClr val="222222"/>
                </a:solidFill>
              </a:defRPr>
            </a:pPr>
            <a:r>
              <a:rPr sz="1875" b="0" i="0">
                <a:solidFill>
                  <a:srgbClr val="222222"/>
                </a:solidFill>
              </a:rPr>
              <a:t>Mỗi bước tạo thêm thông tin: gradient mô tả biên, HOG gom hình dạng, SVM quyết định vùng ảnh có người hay nền.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D0F303-5BA8-489A-A589-345E8FC8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575777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489F71-8227-4366-9971-EB0A5F7F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55555"/>
                </a:solidFill>
              </a:defRPr>
            </a:pPr>
            <a:r>
              <a:rPr sz="1200" b="1" i="0">
                <a:solidFill>
                  <a:srgbClr val="555555"/>
                </a:solidFill>
              </a:rPr>
              <a:t>CHỦ ĐỀ 2 · IMAGE GRADIENT &amp; HOG + SVM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0D188-93E5-4953-9CFD-04FD6DBE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953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000000"/>
                </a:solidFill>
              </a:defRPr>
            </a:pPr>
            <a:r>
              <a:rPr sz="3150" b="1" i="0">
                <a:solidFill>
                  <a:srgbClr val="000000"/>
                </a:solidFill>
              </a:rPr>
              <a:t>Gradient cho biết biên mạnh và hướng thay đổi cường độ sáng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E0383-9D52-4AB3-B580-2E7375C3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fea6d03c384b05"/>
          <a:stretch xmlns:a="http://schemas.openxmlformats.org/drawingml/2006/main"/>
        </p:blipFill>
        <p:spPr>
          <a:xfrm xmlns:a="http://schemas.openxmlformats.org/drawingml/2006/main">
            <a:off x="2200275" y="2286000"/>
            <a:ext cx="1428750" cy="2857500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e8a974b63d4202"/>
          <a:stretch xmlns:a="http://schemas.openxmlformats.org/drawingml/2006/main"/>
        </p:blipFill>
        <p:spPr>
          <a:xfrm xmlns:a="http://schemas.openxmlformats.org/drawingml/2006/main">
            <a:off x="7248525" y="2286000"/>
            <a:ext cx="1428750" cy="2857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C0F7EF-2CFD-43FD-B07C-A5CFBB22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222222"/>
                </a:solidFill>
              </a:defRPr>
            </a:pPr>
            <a:r>
              <a:rPr sz="1650" b="1" i="0">
                <a:solidFill>
                  <a:srgbClr val="222222"/>
                </a:solidFill>
              </a:rPr>
              <a:t>Magnitude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F8FB0B-F4E1-49E0-B518-5319F433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3340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222222"/>
                </a:solidFill>
              </a:defRPr>
            </a:pPr>
            <a:r>
              <a:rPr sz="1650" b="1" i="0">
                <a:solidFill>
                  <a:srgbClr val="222222"/>
                </a:solidFill>
              </a:rPr>
              <a:t>Orientation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17324C-B634-4C11-8F6D-9F63078B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310884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0B3BA5-0E9D-49B5-9F5F-7C128120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55555"/>
                </a:solidFill>
              </a:defRPr>
            </a:pPr>
            <a:r>
              <a:rPr sz="1200" b="1" i="0">
                <a:solidFill>
                  <a:srgbClr val="555555"/>
                </a:solidFill>
              </a:rPr>
              <a:t>CHỦ ĐỀ 2 · IMAGE GRADIENT &amp; HOG + SVM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50159-C984-457F-BB5D-3D76CC82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953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000000"/>
                </a:solidFill>
              </a:defRPr>
            </a:pPr>
            <a:r>
              <a:rPr sz="3150" b="1" i="0">
                <a:solidFill>
                  <a:srgbClr val="000000"/>
                </a:solidFill>
              </a:rPr>
              <a:t>HOG biến phân bố hướng gradient thành vector hình dạng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A4AE26-E5CE-4AFC-B0C9-D07446D6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2436e96d54cce"/>
          <a:stretch xmlns:a="http://schemas.openxmlformats.org/drawingml/2006/main"/>
        </p:blipFill>
        <p:spPr>
          <a:xfrm xmlns:a="http://schemas.openxmlformats.org/drawingml/2006/main">
            <a:off x="1976438" y="2190750"/>
            <a:ext cx="1571625" cy="3143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7EF189-3921-4998-B554-C6C6D8FD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381250"/>
            <a:ext cx="5143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222222"/>
                </a:solidFill>
              </a:defRPr>
            </a:pPr>
            <a:r>
              <a:rPr sz="1875" b="0" i="0">
                <a:solidFill>
                  <a:srgbClr val="222222"/>
                </a:solidFill>
              </a:rPr>
              <a:t>- Window chuẩn 64x128</a:t>
            </a:r>
          </a:p>
          <a:p xmlns:a="http://schemas.openxmlformats.org/drawingml/2006/main">
            <a:pPr algn="l">
              <a:defRPr sz="1875" b="0" i="0">
                <a:solidFill>
                  <a:srgbClr val="222222"/>
                </a:solidFill>
              </a:defRPr>
            </a:pPr>
            <a:r>
              <a:rPr sz="1875" b="0" i="0">
                <a:solidFill>
                  <a:srgbClr val="222222"/>
                </a:solidFill>
              </a:rPr>
              <a:t>- Cell 8x8 pixel</a:t>
            </a:r>
          </a:p>
          <a:p xmlns:a="http://schemas.openxmlformats.org/drawingml/2006/main">
            <a:pPr algn="l">
              <a:defRPr sz="1875" b="0" i="0">
                <a:solidFill>
                  <a:srgbClr val="222222"/>
                </a:solidFill>
              </a:defRPr>
            </a:pPr>
            <a:r>
              <a:rPr sz="1875" b="0" i="0">
                <a:solidFill>
                  <a:srgbClr val="222222"/>
                </a:solidFill>
              </a:rPr>
              <a:t>- Block 2x2 cell</a:t>
            </a:r>
          </a:p>
          <a:p xmlns:a="http://schemas.openxmlformats.org/drawingml/2006/main">
            <a:pPr algn="l">
              <a:defRPr sz="1875" b="0" i="0">
                <a:solidFill>
                  <a:srgbClr val="222222"/>
                </a:solidFill>
              </a:defRPr>
            </a:pPr>
            <a:r>
              <a:rPr sz="1875" b="0" i="0">
                <a:solidFill>
                  <a:srgbClr val="222222"/>
                </a:solidFill>
              </a:rPr>
              <a:t>- 9 hướng gradient</a:t>
            </a:r>
          </a:p>
          <a:p xmlns:a="http://schemas.openxmlformats.org/drawingml/2006/main">
            <a:pPr algn="l">
              <a:defRPr sz="1875" b="0" i="0">
                <a:solidFill>
                  <a:srgbClr val="222222"/>
                </a:solidFill>
              </a:defRPr>
            </a:pPr>
            <a:r>
              <a:rPr sz="1875" b="0" i="0">
                <a:solidFill>
                  <a:srgbClr val="222222"/>
                </a:solidFill>
              </a:rPr>
              <a:t>- Chuẩn hóa L2-Hys để giảm ảnh hưởng ánh sáng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993966-E103-4359-BDDE-C3B53BBC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726164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C0CEF4-D747-47EA-B973-E8D87AA4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55555"/>
                </a:solidFill>
              </a:defRPr>
            </a:pPr>
            <a:r>
              <a:rPr sz="1200" b="1" i="0">
                <a:solidFill>
                  <a:srgbClr val="555555"/>
                </a:solidFill>
              </a:rPr>
              <a:t>CHỦ ĐỀ 2 · IMAGE GRADIENT &amp; HOG + SVM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9407F5-84BB-47A7-9413-23FE1B8D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953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000000"/>
                </a:solidFill>
              </a:defRPr>
            </a:pPr>
            <a:r>
              <a:rPr sz="3150" b="1" i="0">
                <a:solidFill>
                  <a:srgbClr val="000000"/>
                </a:solidFill>
              </a:rPr>
              <a:t>SVM dùng vector HOG để phân biệt person và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5613F-4D40-46B1-B002-6ACBECF5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A6DE48-B44B-4CF9-9068-3844A5E1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4191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C4DBF-F8F6-4B34-8300-B31B7D74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43250"/>
            <a:ext cx="361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000000"/>
                </a:solidFill>
              </a:defRPr>
            </a:pPr>
            <a:r>
              <a:rPr sz="3450" b="1" i="0">
                <a:solidFill>
                  <a:srgbClr val="000000"/>
                </a:solidFill>
              </a:rPr>
              <a:t>f(x) = w^T x + 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67F1A0-D8E2-4048-8472-FF404B55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0050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55555"/>
                </a:solidFill>
              </a:defRPr>
            </a:pPr>
            <a:r>
              <a:rPr sz="1500" b="0" i="0">
                <a:solidFill>
                  <a:srgbClr val="555555"/>
                </a:solidFill>
              </a:rPr>
              <a:t>Nếu score vượt ngưỡng, cửa sổ ảnh được xem là person.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F3998E-9F73-4351-ADA1-3690E6D2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222222"/>
                </a:solidFill>
              </a:defRPr>
            </a:pPr>
            <a:r>
              <a:rPr sz="1800" b="0" i="0">
                <a:solidFill>
                  <a:srgbClr val="222222"/>
                </a:solidFill>
              </a:rPr>
              <a:t>- Input của SVM là vector HOG</a:t>
            </a:r>
          </a:p>
          <a:p xmlns:a="http://schemas.openxmlformats.org/drawingml/2006/main">
            <a:pPr algn="l">
              <a:defRPr sz="1800" b="0" i="0">
                <a:solidFill>
                  <a:srgbClr val="222222"/>
                </a:solidFill>
              </a:defRPr>
            </a:pPr>
            <a:r>
              <a:rPr sz="1800" b="0" i="0">
                <a:solidFill>
                  <a:srgbClr val="222222"/>
                </a:solidFill>
              </a:rPr>
              <a:t>- Linear SVM phù hợp vì HOG đã mô tả hình dạng</a:t>
            </a:r>
          </a:p>
          <a:p xmlns:a="http://schemas.openxmlformats.org/drawingml/2006/main">
            <a:pPr algn="l">
              <a:defRPr sz="1800" b="0" i="0">
                <a:solidFill>
                  <a:srgbClr val="222222"/>
                </a:solidFill>
              </a:defRPr>
            </a:pPr>
            <a:r>
              <a:rPr sz="1800" b="0" i="0">
                <a:solidFill>
                  <a:srgbClr val="222222"/>
                </a:solidFill>
              </a:rPr>
              <a:t>- Model custom dùng StandardScaler + LinearSVC</a:t>
            </a:r>
          </a:p>
          <a:p xmlns:a="http://schemas.openxmlformats.org/drawingml/2006/main">
            <a:pPr algn="l">
              <a:defRPr sz="1800" b="0" i="0">
                <a:solidFill>
                  <a:srgbClr val="222222"/>
                </a:solidFill>
              </a:defRPr>
            </a:pPr>
            <a:r>
              <a:rPr sz="1800" b="0" i="0">
                <a:solidFill>
                  <a:srgbClr val="222222"/>
                </a:solidFill>
              </a:rPr>
              <a:t>- Score được hiển thị cùng bounding box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80781-578A-4B54-93DB-7205CAB7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770239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1D0C66-AB7A-4819-9393-373B104E6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55555"/>
                </a:solidFill>
              </a:defRPr>
            </a:pPr>
            <a:r>
              <a:rPr sz="1200" b="1" i="0">
                <a:solidFill>
                  <a:srgbClr val="555555"/>
                </a:solidFill>
              </a:rPr>
              <a:t>CHỦ ĐỀ 2 · IMAGE GRADIENT &amp; HOG + SVM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BF790-4FB8-4689-8452-DEE0E427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953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000000"/>
                </a:solidFill>
              </a:defRPr>
            </a:pPr>
            <a:r>
              <a:rPr sz="3150" b="1" i="0">
                <a:solidFill>
                  <a:srgbClr val="000000"/>
                </a:solidFill>
              </a:rPr>
              <a:t>Hệ thống có hai đường chạy để vừa demo ổn định vừa chứng minh tự train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70CAFF-6279-4697-9302-11855593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0A6B8F-7127-47BF-9CAA-06A5210C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53340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4C69D9-16A1-4094-933F-F9BE7A6E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90750"/>
            <a:ext cx="53340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97830C-3FD6-4572-8CD4-58A3B569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00000"/>
                </a:solidFill>
              </a:defRPr>
            </a:pPr>
            <a:r>
              <a:rPr sz="1950" b="1" i="0">
                <a:solidFill>
                  <a:srgbClr val="000000"/>
                </a:solidFill>
              </a:rPr>
              <a:t>OpenCV pretrained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5E65B5-E3F2-4CAF-A5BA-8445235F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46863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Dùng cv2.HOGDescriptor_getDefaultPeopleDetector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Chạy nhanh và ổn định hơn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Phù hợp demo realtime chính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Có ROI, NMS và tracker làm mượt box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4442BB-7AE5-474C-8F7A-AE4D6C70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765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00000"/>
                </a:solidFill>
              </a:defRPr>
            </a:pPr>
            <a:r>
              <a:rPr sz="1950" b="1" i="0">
                <a:solidFill>
                  <a:srgbClr val="000000"/>
                </a:solidFill>
              </a:rPr>
              <a:t>Custom SVM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1BA628-C1E9-4729-A25E-F159C26A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28950"/>
            <a:ext cx="46863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Train từ INRIA subset ngoài video demo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Sliding window nhiều scale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Dùng model custom_hog_svm.pkl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Dùng để chứng minh quy trình HOG + SVM đầy đủ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4C4D10-A322-4D17-8C86-F87E58B0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757707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2EDB5A-4CF5-43C3-A3AF-26BF1770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55555"/>
                </a:solidFill>
              </a:defRPr>
            </a:pPr>
            <a:r>
              <a:rPr sz="1200" b="1" i="0">
                <a:solidFill>
                  <a:srgbClr val="555555"/>
                </a:solidFill>
              </a:rPr>
              <a:t>CHỦ ĐỀ 2 · IMAGE GRADIENT &amp; HOG + SVM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05CC39-EB53-432C-AB9C-79502107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953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000000"/>
                </a:solidFill>
              </a:defRPr>
            </a:pPr>
            <a:r>
              <a:rPr sz="3150" b="1" i="0">
                <a:solidFill>
                  <a:srgbClr val="000000"/>
                </a:solidFill>
              </a:rPr>
              <a:t>INRIA subset giúp custom SVM không phụ thuộc video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01062B-7478-4D37-AC37-F38A3BFF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74E1D8-78F7-416C-B7F3-3E030AF1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2476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BA879B-5A17-4E36-B470-6E081C69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051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000000"/>
                </a:solidFill>
              </a:defRPr>
            </a:pPr>
            <a:r>
              <a:rPr sz="3450" b="1" i="0">
                <a:solidFill>
                  <a:srgbClr val="000000"/>
                </a:solidFill>
              </a:rPr>
              <a:t>300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3B158A-6EDC-4AAA-BD65-223658A9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337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00000"/>
                </a:solidFill>
              </a:defRPr>
            </a:pPr>
            <a:r>
              <a:rPr sz="1500" b="1" i="0">
                <a:solidFill>
                  <a:srgbClr val="000000"/>
                </a:solidFill>
              </a:rPr>
              <a:t>positive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9925C-CCE1-472C-918F-CB88D816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57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ảnh pedestrian INRIA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9A2912-5D10-4FB3-9649-C8CE69E6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76500"/>
            <a:ext cx="2476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78E27C-F05B-44AC-8D44-0A085A8C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051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000000"/>
                </a:solidFill>
              </a:defRPr>
            </a:pPr>
            <a:r>
              <a:rPr sz="3450" b="1" i="0">
                <a:solidFill>
                  <a:srgbClr val="000000"/>
                </a:solidFill>
              </a:rPr>
              <a:t>300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EC8F81-C29E-4E7F-9ABA-6B296B6D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3337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00000"/>
                </a:solidFill>
              </a:defRPr>
            </a:pPr>
            <a:r>
              <a:rPr sz="1500" b="1" i="0">
                <a:solidFill>
                  <a:srgbClr val="000000"/>
                </a:solidFill>
              </a:rPr>
              <a:t>negative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A34F7E-ABBC-4526-AEFC-8ED46FF0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657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patch nền không người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CEDAC7-AF0F-4818-A7AB-96DFED98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76500"/>
            <a:ext cx="2476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94BE4C-FC4C-4814-ADA3-8BCB4384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7051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000000"/>
                </a:solidFill>
              </a:defRPr>
            </a:pPr>
            <a:r>
              <a:rPr sz="3450" b="1" i="0">
                <a:solidFill>
                  <a:srgbClr val="000000"/>
                </a:solidFill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C838C3-BE23-41DE-8875-1975EB89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337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00000"/>
                </a:solidFill>
              </a:defRPr>
            </a:pPr>
            <a:r>
              <a:rPr sz="1500" b="1" i="0">
                <a:solidFill>
                  <a:srgbClr val="000000"/>
                </a:solidFill>
              </a:rPr>
              <a:t>test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029F7F-8EAA-4577-96E8-7022A98C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657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minh họa Gradient/HOG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98BCD1-CCB1-4C8F-AE31-7FE3C8BD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76500"/>
            <a:ext cx="2476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439CB2-2B9D-4887-AA43-A87DABE2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051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000000"/>
                </a:solidFill>
              </a:defRPr>
            </a:pPr>
            <a:r>
              <a:rPr sz="3450" b="1" i="0">
                <a:solidFill>
                  <a:srgbClr val="000000"/>
                </a:solidFill>
              </a:rPr>
              <a:t>600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233831-3EC2-4A21-A213-5AE720F4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3337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00000"/>
                </a:solidFill>
              </a:defRPr>
            </a:pPr>
            <a:r>
              <a:rPr sz="1500" b="1" i="0">
                <a:solidFill>
                  <a:srgbClr val="000000"/>
                </a:solidFill>
              </a:rPr>
              <a:t>samples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54DE33-0A19-44C6-85E9-FF55BA1A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657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tổng ảnh train/evaluate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CFF33D-5713-4B49-BB91-16CC2537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625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222222"/>
                </a:solidFill>
              </a:defRPr>
            </a:pPr>
            <a:r>
              <a:rPr sz="1800" b="0" i="0">
                <a:solidFill>
                  <a:srgbClr val="222222"/>
                </a:solidFill>
              </a:rPr>
              <a:t>Dataset train được tải từ INRIA Person mirror trên Hugging Face; walking.mp4 chỉ còn là video demo.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C58C09-747F-495B-A011-004CB9E7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181769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E0CBAF-10E1-4A81-A4B0-8DD9BCDD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55555"/>
                </a:solidFill>
              </a:defRPr>
            </a:pPr>
            <a:r>
              <a:rPr sz="1200" b="1" i="0">
                <a:solidFill>
                  <a:srgbClr val="555555"/>
                </a:solidFill>
              </a:rPr>
              <a:t>CHỦ ĐỀ 2 · IMAGE GRADIENT &amp; HOG + SVM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6F8AA5-48C4-484C-85C8-6743346E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953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000000"/>
                </a:solidFill>
              </a:defRPr>
            </a:pPr>
            <a:r>
              <a:rPr sz="3150" b="1" i="0">
                <a:solidFill>
                  <a:srgbClr val="000000"/>
                </a:solidFill>
              </a:rPr>
              <a:t>Custom SVM đạt kết quả tốt trên INRIA subset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8F4E6-4623-4D62-8C0F-16F9A40F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981C2B-7CD8-4BC3-AB3C-F4B788D6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2476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B46DF4-B0A6-47E2-B351-2ACB6653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098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000000"/>
                </a:solidFill>
              </a:defRPr>
            </a:pPr>
            <a:r>
              <a:rPr sz="3450" b="1" i="0">
                <a:solidFill>
                  <a:srgbClr val="000000"/>
                </a:solidFill>
              </a:rPr>
              <a:t>0.967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01FCA3-6361-4032-9498-FF455B967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00000"/>
                </a:solidFill>
              </a:defRPr>
            </a:pPr>
            <a:r>
              <a:rPr sz="1500" b="1" i="0">
                <a:solidFill>
                  <a:srgbClr val="000000"/>
                </a:solidFill>
              </a:rPr>
              <a:t>test accuracy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1B36C5-2701-42F3-9AA7-510F6099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623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120 mẫu 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53F0F6-A7C3-4599-BE54-AE6B0BF2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2476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108E73-11A3-46F5-97C3-EF584482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98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000000"/>
                </a:solidFill>
              </a:defRPr>
            </a:pPr>
            <a:r>
              <a:rPr sz="3450" b="1" i="0">
                <a:solidFill>
                  <a:srgbClr val="000000"/>
                </a:solidFill>
              </a:rPr>
              <a:t>0.993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5FBAAF-D1EF-4885-939C-105064A4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38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00000"/>
                </a:solidFill>
              </a:defRPr>
            </a:pPr>
            <a:r>
              <a:rPr sz="1500" b="1" i="0">
                <a:solidFill>
                  <a:srgbClr val="000000"/>
                </a:solidFill>
              </a:rPr>
              <a:t>full accuracy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7F8087-570A-4556-A1AD-F9BF5C82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5623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600 mẫu toàn dataset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45D91-9E67-483A-9A4A-09349C16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81250"/>
            <a:ext cx="4095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A60B7-CE1B-4B9A-B8EF-68039A1B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670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</a:defRPr>
            </a:pPr>
            <a:r>
              <a:rPr sz="1800" b="1" i="0">
                <a:solidFill>
                  <a:srgbClr val="000000"/>
                </a:solidFill>
              </a:rPr>
              <a:t>Confusion matrix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7BF3CE-959A-4725-941D-8C980749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3850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222222"/>
                </a:solidFill>
              </a:defRPr>
            </a:pPr>
            <a:r>
              <a:rPr sz="1800" b="0" i="0">
                <a:solidFill>
                  <a:srgbClr val="222222"/>
                </a:solidFill>
              </a:rPr>
              <a:t>Test: [[59, 1], [3, 57]]</a:t>
            </a:r>
          </a:p>
          <a:p xmlns:a="http://schemas.openxmlformats.org/drawingml/2006/main">
            <a:pPr algn="l">
              <a:defRPr sz="1800" b="0" i="0">
                <a:solidFill>
                  <a:srgbClr val="222222"/>
                </a:solidFill>
              </a:defRPr>
            </a:pPr>
            <a:r>
              <a:rPr sz="1800" b="0" i="0">
                <a:solidFill>
                  <a:srgbClr val="222222"/>
                </a:solidFill>
              </a:rPr>
              <a:t>Full: [[299, 1], [3, 297]]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B1B3DE-EF00-44DA-9B56-A8A65B7C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0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0" i="0">
                <a:solidFill>
                  <a:srgbClr val="222222"/>
                </a:solidFill>
              </a:defRPr>
            </a:pPr>
            <a:r>
              <a:rPr sz="1725" b="0" i="0">
                <a:solidFill>
                  <a:srgbClr val="222222"/>
                </a:solidFill>
              </a:rPr>
              <a:t>Ý nghĩa: model đã học từ nguồn ngoài video demo; lỗi còn lại chủ yếu là vài nhầm lẫn giữa nền nhiều cạnh và dáng người.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62D21-196F-4208-ACC3-38ED210C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45452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68B346-50D7-449F-9B90-EE7FF007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55555"/>
                </a:solidFill>
              </a:defRPr>
            </a:pPr>
            <a:r>
              <a:rPr sz="1200" b="1" i="0">
                <a:solidFill>
                  <a:srgbClr val="555555"/>
                </a:solidFill>
              </a:rPr>
              <a:t>CHỦ ĐỀ 2 · IMAGE GRADIENT &amp; HOG + SVM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6E3F6E-5606-4992-BE80-8BD35CC2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953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000000"/>
                </a:solidFill>
              </a:defRPr>
            </a:pPr>
            <a:r>
              <a:rPr sz="3150" b="1" i="0">
                <a:solidFill>
                  <a:srgbClr val="000000"/>
                </a:solidFill>
              </a:rPr>
              <a:t>Demo chính ưu tiên realtime, custom mode dùng để minh chứng tự train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43076-2087-4045-B689-60CF056F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3D5B55-8D7B-44AC-9960-FC68EF04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3625"/>
            <a:ext cx="10191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A60C22-AE18-4272-90EB-BCA16725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9658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00000"/>
                </a:solidFill>
              </a:defRPr>
            </a:pPr>
            <a:r>
              <a:rPr sz="1875" b="1" i="0">
                <a:solidFill>
                  <a:srgbClr val="000000"/>
                </a:solidFill>
              </a:rPr>
              <a:t>python src/run_realtime.py --source path/to/video.mp4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9E306-D5F5-4D3B-B512-8BE11A2B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10191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2FBDC8-9F0D-4C6E-9D4B-DBF55D30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76700"/>
            <a:ext cx="9658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000000"/>
                </a:solidFill>
              </a:defRPr>
            </a:pPr>
            <a:r>
              <a:rPr sz="1575" b="1" i="0">
                <a:solidFill>
                  <a:srgbClr val="000000"/>
                </a:solidFill>
              </a:rPr>
              <a:t>python src/run_realtime.py --source path/to/video.mp4 --model custom --custom-max-width 360 --custom-threshold 0.8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FFA5E-FAD1-4711-ABE4-3AD14ED7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55659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183295-4C1B-420A-A65F-620EE183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55555"/>
                </a:solidFill>
              </a:defRPr>
            </a:pPr>
            <a:r>
              <a:rPr sz="1200" b="1" i="0">
                <a:solidFill>
                  <a:srgbClr val="555555"/>
                </a:solidFill>
              </a:rPr>
              <a:t>CHỦ ĐỀ 2 · IMAGE GRADIENT &amp; HOG + SVM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EB7AB2-A93E-422D-9D4A-DB629743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953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000000"/>
                </a:solidFill>
              </a:defRPr>
            </a:pPr>
            <a:r>
              <a:rPr sz="3150" b="1" i="0">
                <a:solidFill>
                  <a:srgbClr val="000000"/>
                </a:solidFill>
              </a:rPr>
              <a:t>Kết quả tốt nhất khi giải thích rõ ưu và nhược điểm của HOG + SVM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D5D020-3BC6-4804-9351-009D32DD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07AEFF-46B8-454F-BB6D-F1B1A683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53340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B9503C-C911-4F2B-9A50-F96D6B25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90750"/>
            <a:ext cx="53340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B63C09-61D5-4148-8B07-42B45FAC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00000"/>
                </a:solidFill>
              </a:defRPr>
            </a:pPr>
            <a:r>
              <a:rPr sz="1950" b="1" i="0">
                <a:solidFill>
                  <a:srgbClr val="000000"/>
                </a:solidFill>
              </a:rPr>
              <a:t>Ưu điểm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9548B8-97A4-4738-917E-900E7BBAE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46863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Dễ hiểu và bám sát lý thuyết xử lý ảnh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Không cần GPU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Hoạt động ổn với người toàn thân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Có thể giải thích từng bước trung gian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C53109-8AFB-4E7B-A65C-AB25F907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765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00000"/>
                </a:solidFill>
              </a:defRPr>
            </a:pPr>
            <a:r>
              <a:rPr sz="1950" b="1" i="0">
                <a:solidFill>
                  <a:srgbClr val="000000"/>
                </a:solidFill>
              </a:rPr>
              <a:t>Hạn chế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3104A4-E4D4-49BE-9783-9848D885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28950"/>
            <a:ext cx="46863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Nhạy với nền nhiều cạnh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Khó khi người bị che khuất hoặc quá nhỏ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Custom model cần nhiều dữ liệu hơn</a:t>
            </a:r>
          </a:p>
          <a:p xmlns:a="http://schemas.openxmlformats.org/drawingml/2006/main">
            <a:pPr algn="l">
              <a:defRPr sz="1575" b="0" i="0">
                <a:solidFill>
                  <a:srgbClr val="222222"/>
                </a:solidFill>
              </a:defRPr>
            </a:pPr>
            <a:r>
              <a:rPr sz="1575" b="0" i="0">
                <a:solidFill>
                  <a:srgbClr val="222222"/>
                </a:solidFill>
              </a:rPr>
              <a:t>- Sliding window chậm hơn deep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AD7E76-2064-4DCB-A9DF-7C6EEB3C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179705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EDC3E8-904F-4739-A7F7-6539765C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55555"/>
                </a:solidFill>
              </a:defRPr>
            </a:pPr>
            <a:r>
              <a:rPr sz="1200" b="1" i="0">
                <a:solidFill>
                  <a:srgbClr val="555555"/>
                </a:solidFill>
              </a:rPr>
              <a:t>CHỦ ĐỀ 2 · IMAGE GRADIENT &amp; HOG + SVM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5A6CF1-D826-4232-9519-FC47F2747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953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000000"/>
                </a:solidFill>
              </a:defRPr>
            </a:pPr>
            <a:r>
              <a:rPr sz="3150" b="1" i="0">
                <a:solidFill>
                  <a:srgbClr val="000000"/>
                </a:solidFill>
              </a:rPr>
              <a:t>Project đáp ứng yêu cầu Chủ đề 2 và có phần mở rộng tự huấn luyện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A00165-89A9-4229-A282-D378B32D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28C072-260F-47A6-84B6-11691D28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81250"/>
            <a:ext cx="8096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222222"/>
                </a:solidFill>
              </a:defRPr>
            </a:pPr>
            <a:r>
              <a:rPr sz="2100" b="0" i="0">
                <a:solidFill>
                  <a:srgbClr val="222222"/>
                </a:solidFill>
              </a:rPr>
              <a:t>- Có cơ sở lý thuyết Gradient, HOG và SVM</a:t>
            </a:r>
          </a:p>
          <a:p xmlns:a="http://schemas.openxmlformats.org/drawingml/2006/main">
            <a:pPr algn="l">
              <a:defRPr sz="2100" b="0" i="0">
                <a:solidFill>
                  <a:srgbClr val="222222"/>
                </a:solidFill>
              </a:defRPr>
            </a:pPr>
            <a:r>
              <a:rPr sz="2100" b="0" i="0">
                <a:solidFill>
                  <a:srgbClr val="222222"/>
                </a:solidFill>
              </a:rPr>
              <a:t>- Có demo realtime trên video/webcam</a:t>
            </a:r>
          </a:p>
          <a:p xmlns:a="http://schemas.openxmlformats.org/drawingml/2006/main">
            <a:pPr algn="l">
              <a:defRPr sz="2100" b="0" i="0">
                <a:solidFill>
                  <a:srgbClr val="222222"/>
                </a:solidFill>
              </a:defRPr>
            </a:pPr>
            <a:r>
              <a:rPr sz="2100" b="0" i="0">
                <a:solidFill>
                  <a:srgbClr val="222222"/>
                </a:solidFill>
              </a:rPr>
              <a:t>- Có bounding box, nhãn, score và FPS</a:t>
            </a:r>
          </a:p>
          <a:p xmlns:a="http://schemas.openxmlformats.org/drawingml/2006/main">
            <a:pPr algn="l">
              <a:defRPr sz="2100" b="0" i="0">
                <a:solidFill>
                  <a:srgbClr val="222222"/>
                </a:solidFill>
              </a:defRPr>
            </a:pPr>
            <a:r>
              <a:rPr sz="2100" b="0" i="0">
                <a:solidFill>
                  <a:srgbClr val="222222"/>
                </a:solidFill>
              </a:rPr>
              <a:t>- Có ảnh minh họa bước trung gian</a:t>
            </a:r>
          </a:p>
          <a:p xmlns:a="http://schemas.openxmlformats.org/drawingml/2006/main">
            <a:pPr algn="l">
              <a:defRPr sz="2100" b="0" i="0">
                <a:solidFill>
                  <a:srgbClr val="222222"/>
                </a:solidFill>
              </a:defRPr>
            </a:pPr>
            <a:r>
              <a:rPr sz="2100" b="0" i="0">
                <a:solidFill>
                  <a:srgbClr val="222222"/>
                </a:solidFill>
              </a:rPr>
              <a:t>- Có dataset, custom model và kết quả đánh giá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6D5F47-4C19-4290-AC6D-69632B9B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91125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55555"/>
                </a:solidFill>
              </a:defRPr>
            </a:pPr>
            <a:r>
              <a:rPr sz="1650" b="0" i="0">
                <a:solidFill>
                  <a:srgbClr val="555555"/>
                </a:solidFill>
              </a:rPr>
              <a:t>Hướng phát triển: tăng số mẫu INRIA, hard negative mining và so sánh với YOLO.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FC7B02-3297-4C95-B218-B85957EF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55555"/>
                </a:solidFill>
              </a:defRPr>
            </a:pPr>
            <a:r>
              <a:rPr sz="1200" b="0" i="0">
                <a:solidFill>
                  <a:srgbClr val="555555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61557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2026-07-06T10:02:56.7820000Z</dcterms:created>
  <dcterms:modified xsi:type="dcterms:W3CDTF">2026-07-06T10:02:56.7830000Z</dcterms:modified>
</coreProperties>
</file>